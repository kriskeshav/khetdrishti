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372A"/>
                </a:solidFill>
                <a:latin typeface="Calibri"/>
              </a:defRPr>
            </a:pPr>
            <a:r>
              <a:rPr sz="1200" b="0" i="0" u="none" strike="noStrike">
                <a:solidFill>
                  <a:srgbClr val="12372A"/>
                </a:solidFill>
                <a:latin typeface="Calibri"/>
              </a:rPr>
              <a:t>All 12 scenarios passed — answer time (s), live data + live LLM</a:t>
            </a:r>
          </a:p>
        </c:rich>
      </c:tx>
      <c:layout/>
      <c:overlay val="0"/>
    </c:title>
    <c:autoTitleDeleted val="0"/>
    <c:plotArea>
      <c:layout/>
      <c:barChart>
        <c:barDir val="bar"/>
        <c:grouping val="clustered"/>
        <c:varyColors val="0"/>
        <c:ser>
          <c:idx val="0"/>
          <c:order val="0"/>
          <c:tx>
            <c:strRef>
              <c:f>Sheet1!$B$1</c:f>
              <c:strCache>
                <c:ptCount val="1"/>
                <c:pt idx="0">
                  <c:v>Latency (s)</c:v>
                </c:pt>
              </c:strCache>
            </c:strRef>
          </c:tx>
          <c:spPr>
            <a:solidFill>
              <a:srgbClr val="1E6B48"/>
            </a:solidFill>
            <a:effectLst/>
          </c:spPr>
          <c:invertIfNegative val="0"/>
          <c:dLbls>
            <c:numFmt formatCode="0.0" sourceLinked="0"/>
            <c:txPr>
              <a:bodyPr/>
              <a:lstStyle/>
              <a:p>
                <a:pPr>
                  <a:defRPr b="0" i="0" strike="noStrike" sz="1000" u="none">
                    <a:solidFill>
                      <a:srgbClr val="1B2A22"/>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irrigation (hi)</c:v>
                  </c:pt>
                  <c:pt idx="1">
                    <c:v>sell? (mr)</c:v>
                  </c:pt>
                  <c:pt idx="2">
                    <c:v>crop health</c:v>
                  </c:pt>
                  <c:pt idx="3">
                    <c:v>weather risk (te)</c:v>
                  </c:pt>
                  <c:pt idx="4">
                    <c:v>Hinglish</c:v>
                  </c:pt>
                  <c:pt idx="5">
                    <c:v>pesticide dose</c:v>
                  </c:pt>
                  <c:pt idx="6">
                    <c:v>prompt injection</c:v>
                  </c:pt>
                  <c:pt idx="7">
                    <c:v>hallucination bait</c:v>
                  </c:pt>
                  <c:pt idx="8">
                    <c:v>no sowing date</c:v>
                  </c:pt>
                  <c:pt idx="9">
                    <c:v>off-topic</c:v>
                  </c:pt>
                  <c:pt idx="10">
                    <c:v>tiny input</c:v>
                  </c:pt>
                  <c:pt idx="11">
                    <c:v>paddy (ta)</c:v>
                  </c:pt>
                </c:lvl>
              </c:multiLvlStrCache>
            </c:multiLvlStrRef>
          </c:cat>
          <c:val>
            <c:numRef>
              <c:f>Sheet1!$B$2:$B$13</c:f>
              <c:numCache>
                <c:formatCode>General</c:formatCode>
                <c:ptCount val="12"/>
                <c:pt idx="0">
                  <c:v>3.6</c:v>
                </c:pt>
                <c:pt idx="1">
                  <c:v>9.9</c:v>
                </c:pt>
                <c:pt idx="2">
                  <c:v>3.6</c:v>
                </c:pt>
                <c:pt idx="3">
                  <c:v>10.2</c:v>
                </c:pt>
                <c:pt idx="4">
                  <c:v>3.9</c:v>
                </c:pt>
                <c:pt idx="5">
                  <c:v>4.2</c:v>
                </c:pt>
                <c:pt idx="6">
                  <c:v>3.8</c:v>
                </c:pt>
                <c:pt idx="7">
                  <c:v>0.9</c:v>
                </c:pt>
                <c:pt idx="8">
                  <c:v>4.9</c:v>
                </c:pt>
                <c:pt idx="9">
                  <c:v>0.6</c:v>
                </c:pt>
                <c:pt idx="10">
                  <c:v>0.8</c:v>
                </c:pt>
                <c:pt idx="11">
                  <c:v>10.5</c:v>
                </c:pt>
              </c:numCache>
            </c:numRef>
          </c:val>
        </c:ser>
        <c:dLbls>
          <c:numFmt formatCode="0.0" sourceLinked="0"/>
          <c:txPr>
            <a:bodyPr/>
            <a:lstStyle/>
            <a:p>
              <a:pPr>
                <a:defRPr b="0" i="0" strike="noStrike" sz="1000" u="none">
                  <a:solidFill>
                    <a:srgbClr val="1B2A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22"/>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KhetDrishti: advice for ONE specific farm plot, built only on live public data, spoken in the farmer's language, and every number verified before the farmer hears it. The screenshot is the live app running in Central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small/marginal holdings (Agriculture Census 2015-16). The -95% is real: our app measured it for a Niphad plot in late October 2026 against the ERA5 10-year normal. Chatbots fail on three counts: no plot context, made-up numbers, purely reactive.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users: farmers and KVK workers. Use cases: should I irrigate, is there a weather risk, should I sell and where, how healthy is my crop. All six features run on live public data; nothing is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state machine: plan, act (parallel tools), draft, verify, self-correct, translate. The screenshot is a real Hindi answer: 4 numbers verified against live data, 2 tool calls, 2.8 s, with the live trace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Every external call goes through one fetch layer that adds timeouts, retries, labelled caching and provenance. Deterministic engines do the maths; the agent plans and explains; the verifier guards the output. Stack: Python, FastAPI, SQLite (WAL), Groq, rasterio, vanilla 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here is reproducible from the repo: scripts/eval_agent.py (12 scenarios across 5 languages, plus injection, dose and hallucination traps), pytest (69 tests, including fault injection) and the in-app Resilience Lab. Real production bugs we found and fixed: SQLite locking under load, Nominatim rate-limiting cloud IPs, and a missing native library in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through KVKs and FPOs; free national data means near-zero marginal cost. Roadmap: WhatsApp and IVR for feature phones next. Close with the demo summary and both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rgbClr val="12372A"/>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KhetDrishti · Forge '26 · Theme 2: Climate, Resource Infrastructure &amp; Supply Resilience</a:t>
            </a:r>
            <a:endParaRPr lang="en-US" sz="1000" dirty="0"/>
          </a:p>
        </p:txBody>
      </p:sp>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72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20-207-206-244.sslip.io" TargetMode="External"/><Relationship Id="rId2" Type="http://schemas.openxmlformats.org/officeDocument/2006/relationships/hyperlink" Target="https://github.com/KrisKeshav/khetdrishti" TargetMode="External"/><Relationship Id="rId3" Type="http://schemas.openxmlformats.org/officeDocument/2006/relationships/image" Target="../media/image-1-1.jpe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jpeg"/><Relationship Id="rId16" Type="http://schemas.openxmlformats.org/officeDocument/2006/relationships/slideLayout" Target="../slideLayouts/slideLayout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20-207-206-244.sslip.io" TargetMode="External"/><Relationship Id="rId5" Type="http://schemas.openxmlformats.org/officeDocument/2006/relationships/hyperlink" Target="https://github.com/KrisKeshav/khetdrishti"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6035040" cy="274320"/>
          </a:xfrm>
          <a:prstGeom prst="rect">
            <a:avLst/>
          </a:prstGeom>
          <a:noFill/>
          <a:ln/>
        </p:spPr>
        <p:txBody>
          <a:bodyPr wrap="square" lIns="0" tIns="0" rIns="0" bIns="0" rtlCol="0" anchor="ctr"/>
          <a:lstStyle/>
          <a:p>
            <a:pPr indent="0" marL="0">
              <a:buNone/>
            </a:pPr>
            <a:r>
              <a:rPr lang="en-US" sz="1100" b="1" spc="200" kern="0" dirty="0">
                <a:solidFill>
                  <a:srgbClr val="E8962E"/>
                </a:solidFill>
                <a:latin typeface="Calibri" pitchFamily="34" charset="0"/>
                <a:ea typeface="Calibri" pitchFamily="34" charset="-122"/>
                <a:cs typeface="Calibri" pitchFamily="34" charset="-120"/>
              </a:rPr>
              <a:t>FORGE '26 · THEME 2 · CLIMATE &amp; SUPPLY RESILIENCE</a:t>
            </a:r>
            <a:endParaRPr lang="en-US" sz="1100" dirty="0"/>
          </a:p>
        </p:txBody>
      </p:sp>
      <p:sp>
        <p:nvSpPr>
          <p:cNvPr id="3" name="Text 1"/>
          <p:cNvSpPr txBox="1"/>
          <p:nvPr/>
        </p:nvSpPr>
        <p:spPr>
          <a:xfrm>
            <a:off x="548640" y="1005840"/>
            <a:ext cx="6035040" cy="15544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KhetDrishti</a:t>
            </a:r>
            <a:endParaRPr lang="en-US" sz="5400" dirty="0"/>
          </a:p>
          <a:p>
            <a:pPr indent="0" marL="0">
              <a:buNone/>
            </a:pPr>
            <a:r>
              <a:rPr lang="en-US" sz="2200" dirty="0">
                <a:solidFill>
                  <a:srgbClr val="B8D8C5"/>
                </a:solidFill>
                <a:latin typeface="Calibri" pitchFamily="34" charset="0"/>
                <a:ea typeface="Calibri" pitchFamily="34" charset="-122"/>
                <a:cs typeface="Calibri" pitchFamily="34" charset="-120"/>
              </a:rPr>
              <a:t>खेतदृष्टि · field vision</a:t>
            </a:r>
            <a:endParaRPr lang="en-US" sz="5400" dirty="0"/>
          </a:p>
        </p:txBody>
      </p:sp>
      <p:sp>
        <p:nvSpPr>
          <p:cNvPr id="4" name="Text 2"/>
          <p:cNvSpPr txBox="1"/>
          <p:nvPr/>
        </p:nvSpPr>
        <p:spPr>
          <a:xfrm>
            <a:off x="548640" y="2743200"/>
            <a:ext cx="5669280" cy="109728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 plot-level climate-risk AI agent for Indian farmers: live satellite, weather, soil and mandi data, answered by voice in the farmer's language, with every number fact-checked.</a:t>
            </a:r>
            <a:endParaRPr lang="en-US" sz="1800" dirty="0"/>
          </a:p>
        </p:txBody>
      </p:sp>
      <p:sp>
        <p:nvSpPr>
          <p:cNvPr id="5" name="stat pill 0"/>
          <p:cNvSpPr/>
          <p:nvPr/>
        </p:nvSpPr>
        <p:spPr>
          <a:xfrm>
            <a:off x="548640" y="4069080"/>
            <a:ext cx="1737360" cy="914400"/>
          </a:xfrm>
          <a:prstGeom prst="roundRect">
            <a:avLst>
              <a:gd name="adj" fmla="val 10000"/>
            </a:avLst>
          </a:prstGeom>
          <a:solidFill>
            <a:srgbClr val="1D4D3A"/>
          </a:solidFill>
          <a:ln w="12700">
            <a:solidFill>
              <a:srgbClr val="2E6A52"/>
            </a:solidFill>
            <a:prstDash val="solid"/>
          </a:ln>
        </p:spPr>
      </p:sp>
      <p:sp>
        <p:nvSpPr>
          <p:cNvPr id="6" name="Text 4"/>
          <p:cNvSpPr txBox="1"/>
          <p:nvPr/>
        </p:nvSpPr>
        <p:spPr>
          <a:xfrm>
            <a:off x="685800" y="4133088"/>
            <a:ext cx="1508760" cy="786384"/>
          </a:xfrm>
          <a:prstGeom prst="rect">
            <a:avLst/>
          </a:prstGeom>
          <a:noFill/>
          <a:ln/>
        </p:spPr>
        <p:txBody>
          <a:bodyPr wrap="square" lIns="0" tIns="0" rIns="0" bIns="0" rtlCol="0" anchor="ctr"/>
          <a:lstStyle/>
          <a:p>
            <a:pPr indent="0" marL="0">
              <a:buNone/>
            </a:pPr>
            <a:r>
              <a:rPr lang="en-US" sz="2400" b="1" dirty="0">
                <a:solidFill>
                  <a:srgbClr val="E8962E"/>
                </a:solidFill>
                <a:latin typeface="Calibri" pitchFamily="34" charset="0"/>
                <a:ea typeface="Calibri" pitchFamily="34" charset="-122"/>
                <a:cs typeface="Calibri" pitchFamily="34" charset="-120"/>
              </a:rPr>
              <a:t>10</a:t>
            </a:r>
            <a:endParaRPr lang="en-US" sz="2400" dirty="0"/>
          </a:p>
          <a:p>
            <a:pPr indent="0" marL="0">
              <a:buNone/>
            </a:pPr>
            <a:r>
              <a:rPr lang="en-US" sz="1100" dirty="0">
                <a:solidFill>
                  <a:srgbClr val="D4E7DB"/>
                </a:solidFill>
                <a:latin typeface="Calibri" pitchFamily="34" charset="0"/>
                <a:ea typeface="Calibri" pitchFamily="34" charset="-122"/>
                <a:cs typeface="Calibri" pitchFamily="34" charset="-120"/>
              </a:rPr>
              <a:t>Indian languages</a:t>
            </a:r>
            <a:endParaRPr lang="en-US" sz="2400" dirty="0"/>
          </a:p>
        </p:txBody>
      </p:sp>
      <p:sp>
        <p:nvSpPr>
          <p:cNvPr id="7" name="stat pill 1"/>
          <p:cNvSpPr/>
          <p:nvPr/>
        </p:nvSpPr>
        <p:spPr>
          <a:xfrm>
            <a:off x="2468880" y="4069080"/>
            <a:ext cx="1737360" cy="914400"/>
          </a:xfrm>
          <a:prstGeom prst="roundRect">
            <a:avLst>
              <a:gd name="adj" fmla="val 10000"/>
            </a:avLst>
          </a:prstGeom>
          <a:solidFill>
            <a:srgbClr val="1D4D3A"/>
          </a:solidFill>
          <a:ln w="12700">
            <a:solidFill>
              <a:srgbClr val="2E6A52"/>
            </a:solidFill>
            <a:prstDash val="solid"/>
          </a:ln>
        </p:spPr>
      </p:sp>
      <p:sp>
        <p:nvSpPr>
          <p:cNvPr id="8" name="Text 6"/>
          <p:cNvSpPr txBox="1"/>
          <p:nvPr/>
        </p:nvSpPr>
        <p:spPr>
          <a:xfrm>
            <a:off x="2606040" y="4133088"/>
            <a:ext cx="1508760" cy="786384"/>
          </a:xfrm>
          <a:prstGeom prst="rect">
            <a:avLst/>
          </a:prstGeom>
          <a:noFill/>
          <a:ln/>
        </p:spPr>
        <p:txBody>
          <a:bodyPr wrap="square" lIns="0" tIns="0" rIns="0" bIns="0" rtlCol="0" anchor="ctr"/>
          <a:lstStyle/>
          <a:p>
            <a:pPr indent="0" marL="0">
              <a:buNone/>
            </a:pPr>
            <a:r>
              <a:rPr lang="en-US" sz="2400" b="1" dirty="0">
                <a:solidFill>
                  <a:srgbClr val="E8962E"/>
                </a:solidFill>
                <a:latin typeface="Calibri" pitchFamily="34" charset="0"/>
                <a:ea typeface="Calibri" pitchFamily="34" charset="-122"/>
                <a:cs typeface="Calibri" pitchFamily="34" charset="-120"/>
              </a:rPr>
              <a:t>14</a:t>
            </a:r>
            <a:endParaRPr lang="en-US" sz="2400" dirty="0"/>
          </a:p>
          <a:p>
            <a:pPr indent="0" marL="0">
              <a:buNone/>
            </a:pPr>
            <a:r>
              <a:rPr lang="en-US" sz="1100" dirty="0">
                <a:solidFill>
                  <a:srgbClr val="D4E7DB"/>
                </a:solidFill>
                <a:latin typeface="Calibri" pitchFamily="34" charset="0"/>
                <a:ea typeface="Calibri" pitchFamily="34" charset="-122"/>
                <a:cs typeface="Calibri" pitchFamily="34" charset="-120"/>
              </a:rPr>
              <a:t>crops</a:t>
            </a:r>
            <a:endParaRPr lang="en-US" sz="2400" dirty="0"/>
          </a:p>
        </p:txBody>
      </p:sp>
      <p:sp>
        <p:nvSpPr>
          <p:cNvPr id="9" name="stat pill 2"/>
          <p:cNvSpPr/>
          <p:nvPr/>
        </p:nvSpPr>
        <p:spPr>
          <a:xfrm>
            <a:off x="4389120" y="4069080"/>
            <a:ext cx="1737360" cy="914400"/>
          </a:xfrm>
          <a:prstGeom prst="roundRect">
            <a:avLst>
              <a:gd name="adj" fmla="val 10000"/>
            </a:avLst>
          </a:prstGeom>
          <a:solidFill>
            <a:srgbClr val="1D4D3A"/>
          </a:solidFill>
          <a:ln w="12700">
            <a:solidFill>
              <a:srgbClr val="2E6A52"/>
            </a:solidFill>
            <a:prstDash val="solid"/>
          </a:ln>
        </p:spPr>
      </p:sp>
      <p:sp>
        <p:nvSpPr>
          <p:cNvPr id="10" name="Text 8"/>
          <p:cNvSpPr txBox="1"/>
          <p:nvPr/>
        </p:nvSpPr>
        <p:spPr>
          <a:xfrm>
            <a:off x="4526280" y="4133088"/>
            <a:ext cx="1508760" cy="786384"/>
          </a:xfrm>
          <a:prstGeom prst="rect">
            <a:avLst/>
          </a:prstGeom>
          <a:noFill/>
          <a:ln/>
        </p:spPr>
        <p:txBody>
          <a:bodyPr wrap="square" lIns="0" tIns="0" rIns="0" bIns="0" rtlCol="0" anchor="ctr"/>
          <a:lstStyle/>
          <a:p>
            <a:pPr indent="0" marL="0">
              <a:buNone/>
            </a:pPr>
            <a:r>
              <a:rPr lang="en-US" sz="2400" b="1" dirty="0">
                <a:solidFill>
                  <a:srgbClr val="E8962E"/>
                </a:solidFill>
                <a:latin typeface="Calibri" pitchFamily="34" charset="0"/>
                <a:ea typeface="Calibri" pitchFamily="34" charset="-122"/>
                <a:cs typeface="Calibri" pitchFamily="34" charset="-120"/>
              </a:rPr>
              <a:t>12/12</a:t>
            </a:r>
            <a:endParaRPr lang="en-US" sz="2400" dirty="0"/>
          </a:p>
          <a:p>
            <a:pPr indent="0" marL="0">
              <a:buNone/>
            </a:pPr>
            <a:r>
              <a:rPr lang="en-US" sz="1100" dirty="0">
                <a:solidFill>
                  <a:srgbClr val="D4E7DB"/>
                </a:solidFill>
                <a:latin typeface="Calibri" pitchFamily="34" charset="0"/>
                <a:ea typeface="Calibri" pitchFamily="34" charset="-122"/>
                <a:cs typeface="Calibri" pitchFamily="34" charset="-120"/>
              </a:rPr>
              <a:t>agent eval passed</a:t>
            </a:r>
            <a:endParaRPr lang="en-US" sz="2400" dirty="0"/>
          </a:p>
        </p:txBody>
      </p:sp>
      <p:sp>
        <p:nvSpPr>
          <p:cNvPr id="11" name="Text 9"/>
          <p:cNvSpPr txBox="1"/>
          <p:nvPr/>
        </p:nvSpPr>
        <p:spPr>
          <a:xfrm>
            <a:off x="548640" y="5349240"/>
            <a:ext cx="6217920" cy="320040"/>
          </a:xfrm>
          <a:prstGeom prst="rect">
            <a:avLst/>
          </a:prstGeom>
          <a:noFill/>
          <a:ln/>
        </p:spPr>
        <p:txBody>
          <a:bodyPr wrap="square" lIns="0" tIns="0" rIns="0" bIns="0" rtlCol="0" anchor="ctr"/>
          <a:lstStyle/>
          <a:p>
            <a:pPr indent="0" marL="0">
              <a:buNone/>
            </a:pPr>
            <a:r>
              <a:rPr lang="en-US" sz="1200" b="1" dirty="0">
                <a:solidFill>
                  <a:srgbClr val="E8962E"/>
                </a:solidFill>
                <a:latin typeface="Calibri" pitchFamily="34" charset="0"/>
                <a:ea typeface="Calibri" pitchFamily="34" charset="-122"/>
                <a:cs typeface="Calibri" pitchFamily="34" charset="-120"/>
              </a:rPr>
              <a:t>Live: </a:t>
            </a:r>
            <a:pPr indent="0" marL="0">
              <a:buNone/>
            </a:pPr>
            <a:r>
              <a:rPr lang="en-US" sz="1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https://20-207-206-244.sslip.io</a:t>
            </a:r>
            <a:pPr indent="0" marL="0">
              <a:buNone/>
            </a:pPr>
            <a:r>
              <a:rPr lang="en-US" sz="1200" b="1" dirty="0">
                <a:solidFill>
                  <a:srgbClr val="E8962E"/>
                </a:solidFill>
                <a:latin typeface="Calibri" pitchFamily="34" charset="0"/>
                <a:ea typeface="Calibri" pitchFamily="34" charset="-122"/>
                <a:cs typeface="Calibri" pitchFamily="34" charset="-120"/>
              </a:rPr>
              <a:t>   ·   Code: </a:t>
            </a:r>
            <a:pPr indent="0" marL="0">
              <a:buNone/>
            </a:pPr>
            <a:r>
              <a:rPr lang="en-US" sz="1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github.com/KrisKeshav/khetdrishti</a:t>
            </a:r>
            <a:endParaRPr lang="en-US" sz="1200" dirty="0"/>
          </a:p>
        </p:txBody>
      </p:sp>
      <p:sp>
        <p:nvSpPr>
          <p:cNvPr id="12" name="Text 10"/>
          <p:cNvSpPr txBox="1"/>
          <p:nvPr/>
        </p:nvSpPr>
        <p:spPr>
          <a:xfrm>
            <a:off x="548640" y="5806440"/>
            <a:ext cx="6035040" cy="320040"/>
          </a:xfrm>
          <a:prstGeom prst="rect">
            <a:avLst/>
          </a:prstGeom>
          <a:noFill/>
          <a:ln/>
        </p:spPr>
        <p:txBody>
          <a:bodyPr wrap="square" lIns="0" tIns="0" rIns="0" bIns="0" rtlCol="0" anchor="ctr"/>
          <a:lstStyle/>
          <a:p>
            <a:pPr indent="0" marL="0">
              <a:buNone/>
            </a:pPr>
            <a:r>
              <a:rPr lang="en-US" sz="1300" dirty="0">
                <a:solidFill>
                  <a:srgbClr val="D4E7DB"/>
                </a:solidFill>
                <a:latin typeface="Calibri" pitchFamily="34" charset="0"/>
                <a:ea typeface="Calibri" pitchFamily="34" charset="-122"/>
                <a:cs typeface="Calibri" pitchFamily="34" charset="-120"/>
              </a:rPr>
              <a:t>Team: Kris Keshav · Shivam Bansal (IIT Roorkee)</a:t>
            </a:r>
            <a:endParaRPr lang="en-US" sz="1300" dirty="0"/>
          </a:p>
        </p:txBody>
      </p:sp>
      <p:sp>
        <p:nvSpPr>
          <p:cNvPr id="13" name="Live app screenshot: field report frame"/>
          <p:cNvSpPr/>
          <p:nvPr/>
        </p:nvSpPr>
        <p:spPr>
          <a:xfrm>
            <a:off x="6757416" y="950976"/>
            <a:ext cx="5001768" cy="3167253"/>
          </a:xfrm>
          <a:prstGeom prst="roundRect">
            <a:avLst>
              <a:gd name="adj" fmla="val 2310"/>
            </a:avLst>
          </a:prstGeom>
          <a:solidFill>
            <a:srgbClr val="FFFFFF"/>
          </a:solidFill>
          <a:ln w="12700">
            <a:solidFill>
              <a:srgbClr val="D5E3DA"/>
            </a:solidFill>
            <a:prstDash val="solid"/>
          </a:ln>
          <a:effectLst>
            <a:outerShdw sx="100000" sy="100000" kx="0" ky="0" algn="bl" rotWithShape="0" blurRad="101600" dist="38100" dir="5400000">
              <a:srgbClr val="000000">
                <a:alpha val="18000"/>
              </a:srgbClr>
            </a:outerShdw>
          </a:effectLst>
        </p:spPr>
      </p:sp>
      <p:pic>
        <p:nvPicPr>
          <p:cNvPr id="14" name="Live app screenshot: field report" descr="preencoded.png">    </p:cNvPr>
          <p:cNvPicPr>
            <a:picLocks noChangeAspect="1"/>
          </p:cNvPicPr>
          <p:nvPr/>
        </p:nvPicPr>
        <p:blipFill>
          <a:blip r:embed="rId3"/>
          <a:stretch>
            <a:fillRect/>
          </a:stretch>
        </p:blipFill>
        <p:spPr>
          <a:xfrm>
            <a:off x="6812280" y="1005840"/>
            <a:ext cx="4892040" cy="3057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12372A"/>
                </a:solidFill>
                <a:latin typeface="Calibri" pitchFamily="34" charset="0"/>
                <a:ea typeface="Calibri" pitchFamily="34" charset="-122"/>
                <a:cs typeface="Calibri" pitchFamily="34" charset="-120"/>
              </a:rPr>
              <a:t>Weekly farm decisions, made on advice that ignores the field</a:t>
            </a:r>
            <a:endParaRPr lang="en-US" sz="3200" dirty="0"/>
          </a:p>
        </p:txBody>
      </p:sp>
      <p:sp>
        <p:nvSpPr>
          <p:cNvPr id="3" name="stat card 0"/>
          <p:cNvSpPr/>
          <p:nvPr/>
        </p:nvSpPr>
        <p:spPr>
          <a:xfrm>
            <a:off x="548640" y="1325880"/>
            <a:ext cx="5120640" cy="1371600"/>
          </a:xfrm>
          <a:prstGeom prst="roundRect">
            <a:avLst>
              <a:gd name="adj" fmla="val 8000"/>
            </a:avLst>
          </a:prstGeom>
          <a:solidFill>
            <a:srgbClr val="EAF4EE"/>
          </a:solidFill>
          <a:ln w="12700">
            <a:solidFill>
              <a:srgbClr val="EAF4EE"/>
            </a:solidFill>
            <a:prstDash val="solid"/>
          </a:ln>
        </p:spPr>
      </p:sp>
      <p:sp>
        <p:nvSpPr>
          <p:cNvPr id="4" name="Text 2"/>
          <p:cNvSpPr txBox="1"/>
          <p:nvPr/>
        </p:nvSpPr>
        <p:spPr>
          <a:xfrm>
            <a:off x="777240" y="1490472"/>
            <a:ext cx="1737360" cy="1005840"/>
          </a:xfrm>
          <a:prstGeom prst="rect">
            <a:avLst/>
          </a:prstGeom>
          <a:noFill/>
          <a:ln/>
        </p:spPr>
        <p:txBody>
          <a:bodyPr wrap="square" lIns="0" tIns="0" rIns="0" bIns="0" rtlCol="0" anchor="ctr"/>
          <a:lstStyle/>
          <a:p>
            <a:pPr indent="0" marL="0">
              <a:buNone/>
            </a:pPr>
            <a:r>
              <a:rPr lang="en-US" sz="4000" b="1" dirty="0">
                <a:solidFill>
                  <a:srgbClr val="12372A"/>
                </a:solidFill>
                <a:latin typeface="Calibri" pitchFamily="34" charset="0"/>
                <a:ea typeface="Calibri" pitchFamily="34" charset="-122"/>
                <a:cs typeface="Calibri" pitchFamily="34" charset="-120"/>
              </a:rPr>
              <a:t>86%</a:t>
            </a:r>
            <a:endParaRPr lang="en-US" sz="4000" dirty="0"/>
          </a:p>
        </p:txBody>
      </p:sp>
      <p:sp>
        <p:nvSpPr>
          <p:cNvPr id="5" name="Text 3"/>
          <p:cNvSpPr txBox="1"/>
          <p:nvPr/>
        </p:nvSpPr>
        <p:spPr>
          <a:xfrm>
            <a:off x="2560320" y="1463040"/>
            <a:ext cx="2926080" cy="1097280"/>
          </a:xfrm>
          <a:prstGeom prst="rect">
            <a:avLst/>
          </a:prstGeom>
          <a:noFill/>
          <a:ln/>
        </p:spPr>
        <p:txBody>
          <a:bodyPr wrap="square" lIns="0" tIns="0" rIns="0" bIns="0" rtlCol="0" anchor="ctr"/>
          <a:lstStyle/>
          <a:p>
            <a:pPr indent="0" marL="0">
              <a:buNone/>
            </a:pPr>
            <a:r>
              <a:rPr lang="en-US" sz="1500" dirty="0">
                <a:solidFill>
                  <a:srgbClr val="1B2A22"/>
                </a:solidFill>
                <a:latin typeface="Calibri" pitchFamily="34" charset="0"/>
                <a:ea typeface="Calibri" pitchFamily="34" charset="-122"/>
                <a:cs typeface="Calibri" pitchFamily="34" charset="-120"/>
              </a:rPr>
              <a:t>of Indian farm holdings are small or marginal</a:t>
            </a:r>
            <a:endParaRPr lang="en-US" sz="1500" dirty="0"/>
          </a:p>
          <a:p>
            <a:pPr indent="0" marL="0">
              <a:buNone/>
            </a:pPr>
            <a:r>
              <a:rPr lang="en-US" sz="1000" i="1" dirty="0">
                <a:solidFill>
                  <a:srgbClr val="5B6B62"/>
                </a:solidFill>
                <a:latin typeface="Calibri" pitchFamily="34" charset="0"/>
                <a:ea typeface="Calibri" pitchFamily="34" charset="-122"/>
                <a:cs typeface="Calibri" pitchFamily="34" charset="-120"/>
              </a:rPr>
              <a:t>Agriculture Census 2015-16</a:t>
            </a:r>
            <a:endParaRPr lang="en-US" sz="1500" dirty="0"/>
          </a:p>
        </p:txBody>
      </p:sp>
      <p:sp>
        <p:nvSpPr>
          <p:cNvPr id="6" name="stat card 1"/>
          <p:cNvSpPr/>
          <p:nvPr/>
        </p:nvSpPr>
        <p:spPr>
          <a:xfrm>
            <a:off x="548640" y="2926080"/>
            <a:ext cx="5120640" cy="1371600"/>
          </a:xfrm>
          <a:prstGeom prst="roundRect">
            <a:avLst>
              <a:gd name="adj" fmla="val 8000"/>
            </a:avLst>
          </a:prstGeom>
          <a:solidFill>
            <a:srgbClr val="EAF4EE"/>
          </a:solidFill>
          <a:ln w="12700">
            <a:solidFill>
              <a:srgbClr val="EAF4EE"/>
            </a:solidFill>
            <a:prstDash val="solid"/>
          </a:ln>
        </p:spPr>
      </p:sp>
      <p:sp>
        <p:nvSpPr>
          <p:cNvPr id="7" name="Text 5"/>
          <p:cNvSpPr txBox="1"/>
          <p:nvPr/>
        </p:nvSpPr>
        <p:spPr>
          <a:xfrm>
            <a:off x="777240" y="3090672"/>
            <a:ext cx="1737360" cy="1005840"/>
          </a:xfrm>
          <a:prstGeom prst="rect">
            <a:avLst/>
          </a:prstGeom>
          <a:noFill/>
          <a:ln/>
        </p:spPr>
        <p:txBody>
          <a:bodyPr wrap="square" lIns="0" tIns="0" rIns="0" bIns="0" rtlCol="0" anchor="ctr"/>
          <a:lstStyle/>
          <a:p>
            <a:pPr indent="0" marL="0">
              <a:buNone/>
            </a:pPr>
            <a:r>
              <a:rPr lang="en-US" sz="4000" b="1" dirty="0">
                <a:solidFill>
                  <a:srgbClr val="C0392B"/>
                </a:solidFill>
                <a:latin typeface="Calibri" pitchFamily="34" charset="0"/>
                <a:ea typeface="Calibri" pitchFamily="34" charset="-122"/>
                <a:cs typeface="Calibri" pitchFamily="34" charset="-120"/>
              </a:rPr>
              <a:t>−95%</a:t>
            </a:r>
            <a:endParaRPr lang="en-US" sz="4000" dirty="0"/>
          </a:p>
        </p:txBody>
      </p:sp>
      <p:sp>
        <p:nvSpPr>
          <p:cNvPr id="8" name="Text 6"/>
          <p:cNvSpPr txBox="1"/>
          <p:nvPr/>
        </p:nvSpPr>
        <p:spPr>
          <a:xfrm>
            <a:off x="2560320" y="3063240"/>
            <a:ext cx="2926080" cy="1097280"/>
          </a:xfrm>
          <a:prstGeom prst="rect">
            <a:avLst/>
          </a:prstGeom>
          <a:noFill/>
          <a:ln/>
        </p:spPr>
        <p:txBody>
          <a:bodyPr wrap="square" lIns="0" tIns="0" rIns="0" bIns="0" rtlCol="0" anchor="ctr"/>
          <a:lstStyle/>
          <a:p>
            <a:pPr indent="0" marL="0">
              <a:buNone/>
            </a:pPr>
            <a:r>
              <a:rPr lang="en-US" sz="1500" dirty="0">
                <a:solidFill>
                  <a:srgbClr val="1B2A22"/>
                </a:solidFill>
                <a:latin typeface="Calibri" pitchFamily="34" charset="0"/>
                <a:ea typeface="Calibri" pitchFamily="34" charset="-122"/>
                <a:cs typeface="Calibri" pitchFamily="34" charset="-120"/>
              </a:rPr>
              <a:t>rain in 30 days vs the 10-year normal near Niphad, Nashik (IMD: large deficient)</a:t>
            </a:r>
            <a:endParaRPr lang="en-US" sz="1500" dirty="0"/>
          </a:p>
          <a:p>
            <a:pPr indent="0" marL="0">
              <a:buNone/>
            </a:pPr>
            <a:r>
              <a:rPr lang="en-US" sz="1000" i="1" dirty="0">
                <a:solidFill>
                  <a:srgbClr val="5B6B62"/>
                </a:solidFill>
                <a:latin typeface="Calibri" pitchFamily="34" charset="0"/>
                <a:ea typeface="Calibri" pitchFamily="34" charset="-122"/>
                <a:cs typeface="Calibri" pitchFamily="34" charset="-120"/>
              </a:rPr>
              <a:t>Measured live by KhetDrishti, Oct 2026</a:t>
            </a:r>
            <a:endParaRPr lang="en-US" sz="1500" dirty="0"/>
          </a:p>
        </p:txBody>
      </p:sp>
      <p:sp>
        <p:nvSpPr>
          <p:cNvPr id="9" name="stat card 2"/>
          <p:cNvSpPr/>
          <p:nvPr/>
        </p:nvSpPr>
        <p:spPr>
          <a:xfrm>
            <a:off x="548640" y="4526280"/>
            <a:ext cx="5120640" cy="1371600"/>
          </a:xfrm>
          <a:prstGeom prst="roundRect">
            <a:avLst>
              <a:gd name="adj" fmla="val 8000"/>
            </a:avLst>
          </a:prstGeom>
          <a:solidFill>
            <a:srgbClr val="EAF4EE"/>
          </a:solidFill>
          <a:ln w="12700">
            <a:solidFill>
              <a:srgbClr val="EAF4EE"/>
            </a:solidFill>
            <a:prstDash val="solid"/>
          </a:ln>
        </p:spPr>
      </p:sp>
      <p:sp>
        <p:nvSpPr>
          <p:cNvPr id="10" name="Text 8"/>
          <p:cNvSpPr txBox="1"/>
          <p:nvPr/>
        </p:nvSpPr>
        <p:spPr>
          <a:xfrm>
            <a:off x="777240" y="4690872"/>
            <a:ext cx="1737360" cy="1005840"/>
          </a:xfrm>
          <a:prstGeom prst="rect">
            <a:avLst/>
          </a:prstGeom>
          <a:noFill/>
          <a:ln/>
        </p:spPr>
        <p:txBody>
          <a:bodyPr wrap="square" lIns="0" tIns="0" rIns="0" bIns="0" rtlCol="0" anchor="ctr"/>
          <a:lstStyle/>
          <a:p>
            <a:pPr indent="0" marL="0">
              <a:buNone/>
            </a:pPr>
            <a:r>
              <a:rPr lang="en-US" sz="4000" b="1" dirty="0">
                <a:solidFill>
                  <a:srgbClr val="1E6B48"/>
                </a:solidFill>
                <a:latin typeface="Calibri" pitchFamily="34" charset="0"/>
                <a:ea typeface="Calibri" pitchFamily="34" charset="-122"/>
                <a:cs typeface="Calibri" pitchFamily="34" charset="-120"/>
              </a:rPr>
              <a:t>3</a:t>
            </a:r>
            <a:endParaRPr lang="en-US" sz="4000" dirty="0"/>
          </a:p>
        </p:txBody>
      </p:sp>
      <p:sp>
        <p:nvSpPr>
          <p:cNvPr id="11" name="Text 9"/>
          <p:cNvSpPr txBox="1"/>
          <p:nvPr/>
        </p:nvSpPr>
        <p:spPr>
          <a:xfrm>
            <a:off x="2560320" y="4663440"/>
            <a:ext cx="2926080" cy="1097280"/>
          </a:xfrm>
          <a:prstGeom prst="rect">
            <a:avLst/>
          </a:prstGeom>
          <a:noFill/>
          <a:ln/>
        </p:spPr>
        <p:txBody>
          <a:bodyPr wrap="square" lIns="0" tIns="0" rIns="0" bIns="0" rtlCol="0" anchor="ctr"/>
          <a:lstStyle/>
          <a:p>
            <a:pPr indent="0" marL="0">
              <a:buNone/>
            </a:pPr>
            <a:r>
              <a:rPr lang="en-US" sz="1500" dirty="0">
                <a:solidFill>
                  <a:srgbClr val="1B2A22"/>
                </a:solidFill>
                <a:latin typeface="Calibri" pitchFamily="34" charset="0"/>
                <a:ea typeface="Calibri" pitchFamily="34" charset="-122"/>
                <a:cs typeface="Calibri" pitchFamily="34" charset="-120"/>
              </a:rPr>
              <a:t>high-stakes decisions every week: irrigate, spray, sell</a:t>
            </a:r>
            <a:endParaRPr lang="en-US" sz="1500" dirty="0"/>
          </a:p>
          <a:p>
            <a:pPr indent="0" marL="0">
              <a:buNone/>
            </a:pPr>
            <a:r>
              <a:rPr lang="en-US" sz="1000" i="1" dirty="0">
                <a:solidFill>
                  <a:srgbClr val="5B6B62"/>
                </a:solidFill>
                <a:latin typeface="Calibri" pitchFamily="34" charset="0"/>
                <a:ea typeface="Calibri" pitchFamily="34" charset="-122"/>
                <a:cs typeface="Calibri" pitchFamily="34" charset="-120"/>
              </a:rPr>
              <a:t>Wrong call = wasted water, lost crop, bad price</a:t>
            </a:r>
            <a:endParaRPr lang="en-US" sz="1500" dirty="0"/>
          </a:p>
        </p:txBody>
      </p:sp>
      <p:sp>
        <p:nvSpPr>
          <p:cNvPr id="12" name="Text 10"/>
          <p:cNvSpPr txBox="1"/>
          <p:nvPr/>
        </p:nvSpPr>
        <p:spPr>
          <a:xfrm>
            <a:off x="6263640" y="1325880"/>
            <a:ext cx="5303520" cy="411480"/>
          </a:xfrm>
          <a:prstGeom prst="rect">
            <a:avLst/>
          </a:prstGeom>
          <a:noFill/>
          <a:ln/>
        </p:spPr>
        <p:txBody>
          <a:bodyPr wrap="square" lIns="0" tIns="0" rIns="0" bIns="0" rtlCol="0" anchor="ctr"/>
          <a:lstStyle/>
          <a:p>
            <a:pPr indent="0" marL="0">
              <a:buNone/>
            </a:pPr>
            <a:r>
              <a:rPr lang="en-US" sz="2000" b="1" dirty="0">
                <a:solidFill>
                  <a:srgbClr val="12372A"/>
                </a:solidFill>
                <a:latin typeface="Calibri" pitchFamily="34" charset="0"/>
                <a:ea typeface="Calibri" pitchFamily="34" charset="-122"/>
                <a:cs typeface="Calibri" pitchFamily="34" charset="-120"/>
              </a:rPr>
              <a:t>Why generic AI chatbots fail here</a:t>
            </a:r>
            <a:endParaRPr lang="en-US" sz="2000" dirty="0"/>
          </a:p>
        </p:txBody>
      </p:sp>
      <p:sp>
        <p:nvSpPr>
          <p:cNvPr id="13" name="fail 0 circle"/>
          <p:cNvSpPr/>
          <p:nvPr/>
        </p:nvSpPr>
        <p:spPr>
          <a:xfrm>
            <a:off x="6263640" y="1965960"/>
            <a:ext cx="685800" cy="685800"/>
          </a:xfrm>
          <a:prstGeom prst="ellipse">
            <a:avLst/>
          </a:prstGeom>
          <a:solidFill>
            <a:srgbClr val="1E6B48"/>
          </a:solidFill>
          <a:ln w="12700">
            <a:solidFill>
              <a:srgbClr val="1E6B48"/>
            </a:solidFill>
            <a:prstDash val="solid"/>
          </a:ln>
        </p:spPr>
      </p:sp>
      <p:pic>
        <p:nvPicPr>
          <p:cNvPr id="14" name="fail 0 icon" descr="preencoded.png">    </p:cNvPr>
          <p:cNvPicPr>
            <a:picLocks noChangeAspect="1"/>
          </p:cNvPicPr>
          <p:nvPr/>
        </p:nvPicPr>
        <p:blipFill>
          <a:blip r:embed="rId1"/>
          <a:stretch>
            <a:fillRect/>
          </a:stretch>
        </p:blipFill>
        <p:spPr>
          <a:xfrm>
            <a:off x="6435090" y="2137410"/>
            <a:ext cx="342900" cy="342900"/>
          </a:xfrm>
          <a:prstGeom prst="rect">
            <a:avLst/>
          </a:prstGeom>
        </p:spPr>
      </p:pic>
      <p:sp>
        <p:nvSpPr>
          <p:cNvPr id="15" name="Text 12"/>
          <p:cNvSpPr txBox="1"/>
          <p:nvPr/>
        </p:nvSpPr>
        <p:spPr>
          <a:xfrm>
            <a:off x="7132320" y="1920240"/>
            <a:ext cx="4480560" cy="914400"/>
          </a:xfrm>
          <a:prstGeom prst="rect">
            <a:avLst/>
          </a:prstGeom>
          <a:noFill/>
          <a:ln/>
        </p:spPr>
        <p:txBody>
          <a:bodyPr wrap="square" lIns="0" tIns="0" rIns="0" bIns="0" rtlCol="0" anchor="t"/>
          <a:lstStyle/>
          <a:p>
            <a:pPr indent="0" marL="0">
              <a:buNone/>
            </a:pPr>
            <a:r>
              <a:rPr lang="en-US" sz="1600" b="1" dirty="0">
                <a:solidFill>
                  <a:srgbClr val="1B2A22"/>
                </a:solidFill>
                <a:latin typeface="Calibri" pitchFamily="34" charset="0"/>
                <a:ea typeface="Calibri" pitchFamily="34" charset="-122"/>
                <a:cs typeface="Calibri" pitchFamily="34" charset="-120"/>
              </a:rPr>
              <a:t>They don't know the field</a:t>
            </a:r>
            <a:endParaRPr lang="en-US" sz="1600" dirty="0"/>
          </a:p>
          <a:p>
            <a:pPr indent="0" marL="0">
              <a:buNone/>
            </a:pPr>
            <a:r>
              <a:rPr lang="en-US" sz="1300" dirty="0">
                <a:solidFill>
                  <a:srgbClr val="5B6B62"/>
                </a:solidFill>
                <a:latin typeface="Calibri" pitchFamily="34" charset="0"/>
                <a:ea typeface="Calibri" pitchFamily="34" charset="-122"/>
                <a:cs typeface="Calibri" pitchFamily="34" charset="-120"/>
              </a:rPr>
              <a:t>District-level advice; no satellite view of this plot, its soil or its crop stage.</a:t>
            </a:r>
            <a:endParaRPr lang="en-US" sz="1600" dirty="0"/>
          </a:p>
        </p:txBody>
      </p:sp>
      <p:sp>
        <p:nvSpPr>
          <p:cNvPr id="16" name="fail 1 circle"/>
          <p:cNvSpPr/>
          <p:nvPr/>
        </p:nvSpPr>
        <p:spPr>
          <a:xfrm>
            <a:off x="6263640" y="3154680"/>
            <a:ext cx="685800" cy="685800"/>
          </a:xfrm>
          <a:prstGeom prst="ellipse">
            <a:avLst/>
          </a:prstGeom>
          <a:solidFill>
            <a:srgbClr val="C0392B"/>
          </a:solidFill>
          <a:ln w="12700">
            <a:solidFill>
              <a:srgbClr val="C0392B"/>
            </a:solidFill>
            <a:prstDash val="solid"/>
          </a:ln>
        </p:spPr>
      </p:sp>
      <p:pic>
        <p:nvPicPr>
          <p:cNvPr id="17" name="fail 1 icon" descr="preencoded.png">    </p:cNvPr>
          <p:cNvPicPr>
            <a:picLocks noChangeAspect="1"/>
          </p:cNvPicPr>
          <p:nvPr/>
        </p:nvPicPr>
        <p:blipFill>
          <a:blip r:embed="rId2"/>
          <a:stretch>
            <a:fillRect/>
          </a:stretch>
        </p:blipFill>
        <p:spPr>
          <a:xfrm>
            <a:off x="6435090" y="3326130"/>
            <a:ext cx="342900" cy="342900"/>
          </a:xfrm>
          <a:prstGeom prst="rect">
            <a:avLst/>
          </a:prstGeom>
        </p:spPr>
      </p:pic>
      <p:sp>
        <p:nvSpPr>
          <p:cNvPr id="18" name="Text 14"/>
          <p:cNvSpPr txBox="1"/>
          <p:nvPr/>
        </p:nvSpPr>
        <p:spPr>
          <a:xfrm>
            <a:off x="7132320" y="3108960"/>
            <a:ext cx="4480560" cy="914400"/>
          </a:xfrm>
          <a:prstGeom prst="rect">
            <a:avLst/>
          </a:prstGeom>
          <a:noFill/>
          <a:ln/>
        </p:spPr>
        <p:txBody>
          <a:bodyPr wrap="square" lIns="0" tIns="0" rIns="0" bIns="0" rtlCol="0" anchor="t"/>
          <a:lstStyle/>
          <a:p>
            <a:pPr indent="0" marL="0">
              <a:buNone/>
            </a:pPr>
            <a:r>
              <a:rPr lang="en-US" sz="1600" b="1" dirty="0">
                <a:solidFill>
                  <a:srgbClr val="1B2A22"/>
                </a:solidFill>
                <a:latin typeface="Calibri" pitchFamily="34" charset="0"/>
                <a:ea typeface="Calibri" pitchFamily="34" charset="-122"/>
                <a:cs typeface="Calibri" pitchFamily="34" charset="-120"/>
              </a:rPr>
              <a:t>They make up numbers</a:t>
            </a:r>
            <a:endParaRPr lang="en-US" sz="1600" dirty="0"/>
          </a:p>
          <a:p>
            <a:pPr indent="0" marL="0">
              <a:buNone/>
            </a:pPr>
            <a:r>
              <a:rPr lang="en-US" sz="1300" dirty="0">
                <a:solidFill>
                  <a:srgbClr val="5B6B62"/>
                </a:solidFill>
                <a:latin typeface="Calibri" pitchFamily="34" charset="0"/>
                <a:ea typeface="Calibri" pitchFamily="34" charset="-122"/>
                <a:cs typeface="Calibri" pitchFamily="34" charset="-120"/>
              </a:rPr>
              <a:t>Confident mm, °C and ₹ figures with no source — dangerous for water and money.</a:t>
            </a:r>
            <a:endParaRPr lang="en-US" sz="1600" dirty="0"/>
          </a:p>
        </p:txBody>
      </p:sp>
      <p:sp>
        <p:nvSpPr>
          <p:cNvPr id="19" name="fail 2 circle"/>
          <p:cNvSpPr/>
          <p:nvPr/>
        </p:nvSpPr>
        <p:spPr>
          <a:xfrm>
            <a:off x="6263640" y="4343400"/>
            <a:ext cx="685800" cy="685800"/>
          </a:xfrm>
          <a:prstGeom prst="ellipse">
            <a:avLst/>
          </a:prstGeom>
          <a:solidFill>
            <a:srgbClr val="1E6B48"/>
          </a:solidFill>
          <a:ln w="12700">
            <a:solidFill>
              <a:srgbClr val="1E6B48"/>
            </a:solidFill>
            <a:prstDash val="solid"/>
          </a:ln>
        </p:spPr>
      </p:sp>
      <p:pic>
        <p:nvPicPr>
          <p:cNvPr id="20" name="fail 2 icon" descr="preencoded.png">    </p:cNvPr>
          <p:cNvPicPr>
            <a:picLocks noChangeAspect="1"/>
          </p:cNvPicPr>
          <p:nvPr/>
        </p:nvPicPr>
        <p:blipFill>
          <a:blip r:embed="rId3"/>
          <a:stretch>
            <a:fillRect/>
          </a:stretch>
        </p:blipFill>
        <p:spPr>
          <a:xfrm>
            <a:off x="6435090" y="4514850"/>
            <a:ext cx="342900" cy="342900"/>
          </a:xfrm>
          <a:prstGeom prst="rect">
            <a:avLst/>
          </a:prstGeom>
        </p:spPr>
      </p:pic>
      <p:sp>
        <p:nvSpPr>
          <p:cNvPr id="21" name="Text 16"/>
          <p:cNvSpPr txBox="1"/>
          <p:nvPr/>
        </p:nvSpPr>
        <p:spPr>
          <a:xfrm>
            <a:off x="7132320" y="4297680"/>
            <a:ext cx="4480560" cy="914400"/>
          </a:xfrm>
          <a:prstGeom prst="rect">
            <a:avLst/>
          </a:prstGeom>
          <a:noFill/>
          <a:ln/>
        </p:spPr>
        <p:txBody>
          <a:bodyPr wrap="square" lIns="0" tIns="0" rIns="0" bIns="0" rtlCol="0" anchor="t"/>
          <a:lstStyle/>
          <a:p>
            <a:pPr indent="0" marL="0">
              <a:buNone/>
            </a:pPr>
            <a:r>
              <a:rPr lang="en-US" sz="1600" b="1" dirty="0">
                <a:solidFill>
                  <a:srgbClr val="1B2A22"/>
                </a:solidFill>
                <a:latin typeface="Calibri" pitchFamily="34" charset="0"/>
                <a:ea typeface="Calibri" pitchFamily="34" charset="-122"/>
                <a:cs typeface="Calibri" pitchFamily="34" charset="-120"/>
              </a:rPr>
              <a:t>They wait to be asked</a:t>
            </a:r>
            <a:endParaRPr lang="en-US" sz="1600" dirty="0"/>
          </a:p>
          <a:p>
            <a:pPr indent="0" marL="0">
              <a:buNone/>
            </a:pPr>
            <a:r>
              <a:rPr lang="en-US" sz="1300" dirty="0">
                <a:solidFill>
                  <a:srgbClr val="5B6B62"/>
                </a:solidFill>
                <a:latin typeface="Calibri" pitchFamily="34" charset="0"/>
                <a:ea typeface="Calibri" pitchFamily="34" charset="-122"/>
                <a:cs typeface="Calibri" pitchFamily="34" charset="-120"/>
              </a:rPr>
              <a:t>A heat wave at flowering needs an alert, not a chat the farmer never starts.</a:t>
            </a:r>
            <a:endParaRPr lang="en-US" sz="1600" dirty="0"/>
          </a:p>
        </p:txBody>
      </p:sp>
      <p:sp>
        <p:nvSpPr>
          <p:cNvPr id="22" name="Text 17"/>
          <p:cNvSpPr txBox="1"/>
          <p:nvPr/>
        </p:nvSpPr>
        <p:spPr>
          <a:xfrm>
            <a:off x="6263640" y="5577840"/>
            <a:ext cx="5349240" cy="548640"/>
          </a:xfrm>
          <a:prstGeom prst="rect">
            <a:avLst/>
          </a:prstGeom>
          <a:noFill/>
          <a:ln/>
        </p:spPr>
        <p:txBody>
          <a:bodyPr wrap="square" lIns="0" tIns="0" rIns="0" bIns="0" rtlCol="0" anchor="ctr"/>
          <a:lstStyle/>
          <a:p>
            <a:pPr indent="0" marL="0">
              <a:buNone/>
            </a:pPr>
            <a:r>
              <a:rPr lang="en-US" sz="1300" b="1" dirty="0">
                <a:solidFill>
                  <a:srgbClr val="12372A"/>
                </a:solidFill>
                <a:latin typeface="Calibri" pitchFamily="34" charset="0"/>
                <a:ea typeface="Calibri" pitchFamily="34" charset="-122"/>
                <a:cs typeface="Calibri" pitchFamily="34" charset="-120"/>
              </a:rPr>
              <a:t>Who we serve: </a:t>
            </a:r>
            <a:pPr indent="0" marL="0">
              <a:buNone/>
            </a:pPr>
            <a:r>
              <a:rPr lang="en-US" sz="1300" dirty="0">
                <a:solidFill>
                  <a:srgbClr val="1B2A22"/>
                </a:solidFill>
                <a:latin typeface="Calibri" pitchFamily="34" charset="0"/>
                <a:ea typeface="Calibri" pitchFamily="34" charset="-122"/>
                <a:cs typeface="Calibri" pitchFamily="34" charset="-120"/>
              </a:rPr>
              <a:t>small and marginal farmers, and the KVK extension workers and FPOs who advise hundreds of plots each.</a:t>
            </a:r>
            <a:endParaRPr lang="en-US" sz="1300" dirty="0"/>
          </a:p>
        </p:txBody>
      </p:sp>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12372A"/>
                </a:solidFill>
                <a:latin typeface="Calibri" pitchFamily="34" charset="0"/>
                <a:ea typeface="Calibri" pitchFamily="34" charset="-122"/>
                <a:cs typeface="Calibri" pitchFamily="34" charset="-120"/>
              </a:rPr>
              <a:t>One pin, live data, a verified answer in the farmer's language</a:t>
            </a:r>
            <a:endParaRPr lang="en-US" sz="3200" dirty="0"/>
          </a:p>
        </p:txBody>
      </p:sp>
      <p:sp>
        <p:nvSpPr>
          <p:cNvPr id="3" name="Live satellite NDVI and 16-day forecast charts frame"/>
          <p:cNvSpPr/>
          <p:nvPr/>
        </p:nvSpPr>
        <p:spPr>
          <a:xfrm>
            <a:off x="493776" y="1271016"/>
            <a:ext cx="5687568" cy="2182336"/>
          </a:xfrm>
          <a:prstGeom prst="roundRect">
            <a:avLst>
              <a:gd name="adj" fmla="val 3352"/>
            </a:avLst>
          </a:prstGeom>
          <a:solidFill>
            <a:srgbClr val="FFFFFF"/>
          </a:solidFill>
          <a:ln w="12700">
            <a:solidFill>
              <a:srgbClr val="D5E3DA"/>
            </a:solidFill>
            <a:prstDash val="solid"/>
          </a:ln>
          <a:effectLst>
            <a:outerShdw sx="100000" sy="100000" kx="0" ky="0" algn="bl" rotWithShape="0" blurRad="101600" dist="38100" dir="5400000">
              <a:srgbClr val="000000">
                <a:alpha val="18000"/>
              </a:srgbClr>
            </a:outerShdw>
          </a:effectLst>
        </p:spPr>
      </p:sp>
      <p:pic>
        <p:nvPicPr>
          <p:cNvPr id="4" name="Live satellite NDVI and 16-day forecast charts" descr="preencoded.png">    </p:cNvPr>
          <p:cNvPicPr>
            <a:picLocks noChangeAspect="1"/>
          </p:cNvPicPr>
          <p:nvPr/>
        </p:nvPicPr>
        <p:blipFill>
          <a:blip r:embed="rId1"/>
          <a:stretch>
            <a:fillRect/>
          </a:stretch>
        </p:blipFill>
        <p:spPr>
          <a:xfrm>
            <a:off x="548640" y="1325880"/>
            <a:ext cx="5577840" cy="2072608"/>
          </a:xfrm>
          <a:prstGeom prst="rect">
            <a:avLst/>
          </a:prstGeom>
        </p:spPr>
      </p:pic>
      <p:sp>
        <p:nvSpPr>
          <p:cNvPr id="5" name="Live irrigation, mandi and soil cards frame"/>
          <p:cNvSpPr/>
          <p:nvPr/>
        </p:nvSpPr>
        <p:spPr>
          <a:xfrm>
            <a:off x="513119" y="3617944"/>
            <a:ext cx="5648882" cy="2990088"/>
          </a:xfrm>
          <a:prstGeom prst="roundRect">
            <a:avLst>
              <a:gd name="adj" fmla="val 2446"/>
            </a:avLst>
          </a:prstGeom>
          <a:solidFill>
            <a:srgbClr val="FFFFFF"/>
          </a:solidFill>
          <a:ln w="12700">
            <a:solidFill>
              <a:srgbClr val="D5E3DA"/>
            </a:solidFill>
            <a:prstDash val="solid"/>
          </a:ln>
          <a:effectLst>
            <a:outerShdw sx="100000" sy="100000" kx="0" ky="0" algn="bl" rotWithShape="0" blurRad="101600" dist="38100" dir="5400000">
              <a:srgbClr val="000000">
                <a:alpha val="18000"/>
              </a:srgbClr>
            </a:outerShdw>
          </a:effectLst>
        </p:spPr>
      </p:sp>
      <p:pic>
        <p:nvPicPr>
          <p:cNvPr id="6" name="Live irrigation, mandi and soil cards" descr="preencoded.png">    </p:cNvPr>
          <p:cNvPicPr>
            <a:picLocks noChangeAspect="1"/>
          </p:cNvPicPr>
          <p:nvPr/>
        </p:nvPicPr>
        <p:blipFill>
          <a:blip r:embed="rId2"/>
          <a:stretch>
            <a:fillRect/>
          </a:stretch>
        </p:blipFill>
        <p:spPr>
          <a:xfrm>
            <a:off x="567983" y="3672808"/>
            <a:ext cx="5539154" cy="2880360"/>
          </a:xfrm>
          <a:prstGeom prst="rect">
            <a:avLst/>
          </a:prstGeom>
        </p:spPr>
      </p:pic>
      <p:sp>
        <p:nvSpPr>
          <p:cNvPr id="7" name="feature card 0"/>
          <p:cNvSpPr/>
          <p:nvPr/>
        </p:nvSpPr>
        <p:spPr>
          <a:xfrm>
            <a:off x="6446520" y="1325880"/>
            <a:ext cx="2468880" cy="1417320"/>
          </a:xfrm>
          <a:prstGeom prst="roundRect">
            <a:avLst>
              <a:gd name="adj" fmla="val 7742"/>
            </a:avLst>
          </a:prstGeom>
          <a:solidFill>
            <a:srgbClr val="EAF4EE"/>
          </a:solidFill>
          <a:ln w="12700">
            <a:solidFill>
              <a:srgbClr val="EAF4EE"/>
            </a:solidFill>
            <a:prstDash val="solid"/>
          </a:ln>
        </p:spPr>
      </p:sp>
      <p:sp>
        <p:nvSpPr>
          <p:cNvPr id="8" name="feature 0 circle"/>
          <p:cNvSpPr/>
          <p:nvPr/>
        </p:nvSpPr>
        <p:spPr>
          <a:xfrm>
            <a:off x="6583680" y="1463040"/>
            <a:ext cx="502920" cy="502920"/>
          </a:xfrm>
          <a:prstGeom prst="ellipse">
            <a:avLst/>
          </a:prstGeom>
          <a:solidFill>
            <a:srgbClr val="1E6B48"/>
          </a:solidFill>
          <a:ln w="12700">
            <a:solidFill>
              <a:srgbClr val="1E6B48"/>
            </a:solidFill>
            <a:prstDash val="solid"/>
          </a:ln>
        </p:spPr>
      </p:sp>
      <p:pic>
        <p:nvPicPr>
          <p:cNvPr id="9" name="feature 0 icon" descr="preencoded.png">    </p:cNvPr>
          <p:cNvPicPr>
            <a:picLocks noChangeAspect="1"/>
          </p:cNvPicPr>
          <p:nvPr/>
        </p:nvPicPr>
        <p:blipFill>
          <a:blip r:embed="rId3"/>
          <a:stretch>
            <a:fillRect/>
          </a:stretch>
        </p:blipFill>
        <p:spPr>
          <a:xfrm>
            <a:off x="6709410" y="1588770"/>
            <a:ext cx="251460" cy="251460"/>
          </a:xfrm>
          <a:prstGeom prst="rect">
            <a:avLst/>
          </a:prstGeom>
        </p:spPr>
      </p:pic>
      <p:sp>
        <p:nvSpPr>
          <p:cNvPr id="10" name="Text 5"/>
          <p:cNvSpPr txBox="1"/>
          <p:nvPr/>
        </p:nvSpPr>
        <p:spPr>
          <a:xfrm>
            <a:off x="7178040" y="14813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Satellite crop health</a:t>
            </a:r>
            <a:endParaRPr lang="en-US" sz="1400" dirty="0"/>
          </a:p>
        </p:txBody>
      </p:sp>
      <p:sp>
        <p:nvSpPr>
          <p:cNvPr id="11" name="Text 6"/>
          <p:cNvSpPr txBox="1"/>
          <p:nvPr/>
        </p:nvSpPr>
        <p:spPr>
          <a:xfrm>
            <a:off x="6583680" y="20391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Sentinel-2 NDVI for this exact plot vs last year</a:t>
            </a:r>
            <a:endParaRPr lang="en-US" sz="1150" dirty="0"/>
          </a:p>
        </p:txBody>
      </p:sp>
      <p:sp>
        <p:nvSpPr>
          <p:cNvPr id="12" name="feature card 1"/>
          <p:cNvSpPr/>
          <p:nvPr/>
        </p:nvSpPr>
        <p:spPr>
          <a:xfrm>
            <a:off x="9098280" y="1325880"/>
            <a:ext cx="2468880" cy="1417320"/>
          </a:xfrm>
          <a:prstGeom prst="roundRect">
            <a:avLst>
              <a:gd name="adj" fmla="val 7742"/>
            </a:avLst>
          </a:prstGeom>
          <a:solidFill>
            <a:srgbClr val="EAF4EE"/>
          </a:solidFill>
          <a:ln w="12700">
            <a:solidFill>
              <a:srgbClr val="EAF4EE"/>
            </a:solidFill>
            <a:prstDash val="solid"/>
          </a:ln>
        </p:spPr>
      </p:sp>
      <p:sp>
        <p:nvSpPr>
          <p:cNvPr id="13" name="feature 1 circle"/>
          <p:cNvSpPr/>
          <p:nvPr/>
        </p:nvSpPr>
        <p:spPr>
          <a:xfrm>
            <a:off x="9235440" y="1463040"/>
            <a:ext cx="502920" cy="502920"/>
          </a:xfrm>
          <a:prstGeom prst="ellipse">
            <a:avLst/>
          </a:prstGeom>
          <a:solidFill>
            <a:srgbClr val="2A7FB8"/>
          </a:solidFill>
          <a:ln w="12700">
            <a:solidFill>
              <a:srgbClr val="2A7FB8"/>
            </a:solidFill>
            <a:prstDash val="solid"/>
          </a:ln>
        </p:spPr>
      </p:sp>
      <p:pic>
        <p:nvPicPr>
          <p:cNvPr id="14" name="feature 1 icon" descr="preencoded.png">    </p:cNvPr>
          <p:cNvPicPr>
            <a:picLocks noChangeAspect="1"/>
          </p:cNvPicPr>
          <p:nvPr/>
        </p:nvPicPr>
        <p:blipFill>
          <a:blip r:embed="rId4"/>
          <a:stretch>
            <a:fillRect/>
          </a:stretch>
        </p:blipFill>
        <p:spPr>
          <a:xfrm>
            <a:off x="9361170" y="1588770"/>
            <a:ext cx="251460" cy="251460"/>
          </a:xfrm>
          <a:prstGeom prst="rect">
            <a:avLst/>
          </a:prstGeom>
        </p:spPr>
      </p:pic>
      <p:sp>
        <p:nvSpPr>
          <p:cNvPr id="15" name="Text 9"/>
          <p:cNvSpPr txBox="1"/>
          <p:nvPr/>
        </p:nvSpPr>
        <p:spPr>
          <a:xfrm>
            <a:off x="9829800" y="14813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Irrigation advice</a:t>
            </a:r>
            <a:endParaRPr lang="en-US" sz="1400" dirty="0"/>
          </a:p>
        </p:txBody>
      </p:sp>
      <p:sp>
        <p:nvSpPr>
          <p:cNvPr id="16" name="Text 10"/>
          <p:cNvSpPr txBox="1"/>
          <p:nvPr/>
        </p:nvSpPr>
        <p:spPr>
          <a:xfrm>
            <a:off x="9235440" y="20391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FAO-56 water balance: irrigate now / wait for rain / due date + mm</a:t>
            </a:r>
            <a:endParaRPr lang="en-US" sz="1150" dirty="0"/>
          </a:p>
        </p:txBody>
      </p:sp>
      <p:sp>
        <p:nvSpPr>
          <p:cNvPr id="17" name="feature card 2"/>
          <p:cNvSpPr/>
          <p:nvPr/>
        </p:nvSpPr>
        <p:spPr>
          <a:xfrm>
            <a:off x="6446520" y="2926080"/>
            <a:ext cx="2468880" cy="1417320"/>
          </a:xfrm>
          <a:prstGeom prst="roundRect">
            <a:avLst>
              <a:gd name="adj" fmla="val 7742"/>
            </a:avLst>
          </a:prstGeom>
          <a:solidFill>
            <a:srgbClr val="EAF4EE"/>
          </a:solidFill>
          <a:ln w="12700">
            <a:solidFill>
              <a:srgbClr val="EAF4EE"/>
            </a:solidFill>
            <a:prstDash val="solid"/>
          </a:ln>
        </p:spPr>
      </p:sp>
      <p:sp>
        <p:nvSpPr>
          <p:cNvPr id="18" name="feature 2 circle"/>
          <p:cNvSpPr/>
          <p:nvPr/>
        </p:nvSpPr>
        <p:spPr>
          <a:xfrm>
            <a:off x="6583680" y="3063240"/>
            <a:ext cx="502920" cy="502920"/>
          </a:xfrm>
          <a:prstGeom prst="ellipse">
            <a:avLst/>
          </a:prstGeom>
          <a:solidFill>
            <a:srgbClr val="E8962E"/>
          </a:solidFill>
          <a:ln w="12700">
            <a:solidFill>
              <a:srgbClr val="E8962E"/>
            </a:solidFill>
            <a:prstDash val="solid"/>
          </a:ln>
        </p:spPr>
      </p:sp>
      <p:pic>
        <p:nvPicPr>
          <p:cNvPr id="19" name="feature 2 icon" descr="preencoded.png">    </p:cNvPr>
          <p:cNvPicPr>
            <a:picLocks noChangeAspect="1"/>
          </p:cNvPicPr>
          <p:nvPr/>
        </p:nvPicPr>
        <p:blipFill>
          <a:blip r:embed="rId5"/>
          <a:stretch>
            <a:fillRect/>
          </a:stretch>
        </p:blipFill>
        <p:spPr>
          <a:xfrm>
            <a:off x="6709410" y="3188970"/>
            <a:ext cx="251460" cy="251460"/>
          </a:xfrm>
          <a:prstGeom prst="rect">
            <a:avLst/>
          </a:prstGeom>
        </p:spPr>
      </p:pic>
      <p:sp>
        <p:nvSpPr>
          <p:cNvPr id="20" name="Text 13"/>
          <p:cNvSpPr txBox="1"/>
          <p:nvPr/>
        </p:nvSpPr>
        <p:spPr>
          <a:xfrm>
            <a:off x="7178040" y="30815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Risk engine</a:t>
            </a:r>
            <a:endParaRPr lang="en-US" sz="1400" dirty="0"/>
          </a:p>
        </p:txBody>
      </p:sp>
      <p:sp>
        <p:nvSpPr>
          <p:cNvPr id="21" name="Text 14"/>
          <p:cNvSpPr txBox="1"/>
          <p:nvPr/>
        </p:nvSpPr>
        <p:spPr>
          <a:xfrm>
            <a:off x="6583680" y="36393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Heat at flowering, IMD cold wave &amp; heavy rain, dry spell, spray window</a:t>
            </a:r>
            <a:endParaRPr lang="en-US" sz="1150" dirty="0"/>
          </a:p>
        </p:txBody>
      </p:sp>
      <p:sp>
        <p:nvSpPr>
          <p:cNvPr id="22" name="feature card 3"/>
          <p:cNvSpPr/>
          <p:nvPr/>
        </p:nvSpPr>
        <p:spPr>
          <a:xfrm>
            <a:off x="9098280" y="2926080"/>
            <a:ext cx="2468880" cy="1417320"/>
          </a:xfrm>
          <a:prstGeom prst="roundRect">
            <a:avLst>
              <a:gd name="adj" fmla="val 7742"/>
            </a:avLst>
          </a:prstGeom>
          <a:solidFill>
            <a:srgbClr val="EAF4EE"/>
          </a:solidFill>
          <a:ln w="12700">
            <a:solidFill>
              <a:srgbClr val="EAF4EE"/>
            </a:solidFill>
            <a:prstDash val="solid"/>
          </a:ln>
        </p:spPr>
      </p:sp>
      <p:sp>
        <p:nvSpPr>
          <p:cNvPr id="23" name="feature 3 circle"/>
          <p:cNvSpPr/>
          <p:nvPr/>
        </p:nvSpPr>
        <p:spPr>
          <a:xfrm>
            <a:off x="9235440" y="3063240"/>
            <a:ext cx="502920" cy="502920"/>
          </a:xfrm>
          <a:prstGeom prst="ellipse">
            <a:avLst/>
          </a:prstGeom>
          <a:solidFill>
            <a:srgbClr val="1E6B48"/>
          </a:solidFill>
          <a:ln w="12700">
            <a:solidFill>
              <a:srgbClr val="1E6B48"/>
            </a:solidFill>
            <a:prstDash val="solid"/>
          </a:ln>
        </p:spPr>
      </p:sp>
      <p:pic>
        <p:nvPicPr>
          <p:cNvPr id="24" name="feature 3 icon" descr="preencoded.png">    </p:cNvPr>
          <p:cNvPicPr>
            <a:picLocks noChangeAspect="1"/>
          </p:cNvPicPr>
          <p:nvPr/>
        </p:nvPicPr>
        <p:blipFill>
          <a:blip r:embed="rId6"/>
          <a:stretch>
            <a:fillRect/>
          </a:stretch>
        </p:blipFill>
        <p:spPr>
          <a:xfrm>
            <a:off x="9361170" y="3188970"/>
            <a:ext cx="251460" cy="251460"/>
          </a:xfrm>
          <a:prstGeom prst="rect">
            <a:avLst/>
          </a:prstGeom>
        </p:spPr>
      </p:pic>
      <p:sp>
        <p:nvSpPr>
          <p:cNvPr id="25" name="Text 17"/>
          <p:cNvSpPr txBox="1"/>
          <p:nvPr/>
        </p:nvSpPr>
        <p:spPr>
          <a:xfrm>
            <a:off x="9829800" y="30815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Mandi prices</a:t>
            </a:r>
            <a:endParaRPr lang="en-US" sz="1400" dirty="0"/>
          </a:p>
        </p:txBody>
      </p:sp>
      <p:sp>
        <p:nvSpPr>
          <p:cNvPr id="26" name="Text 18"/>
          <p:cNvSpPr txBox="1"/>
          <p:nvPr/>
        </p:nvSpPr>
        <p:spPr>
          <a:xfrm>
            <a:off x="9235440" y="36393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Live Agmarknet, nearest markets, like-for-like 7/30-day trend</a:t>
            </a:r>
            <a:endParaRPr lang="en-US" sz="1150" dirty="0"/>
          </a:p>
        </p:txBody>
      </p:sp>
      <p:sp>
        <p:nvSpPr>
          <p:cNvPr id="27" name="feature card 4"/>
          <p:cNvSpPr/>
          <p:nvPr/>
        </p:nvSpPr>
        <p:spPr>
          <a:xfrm>
            <a:off x="6446520" y="4526280"/>
            <a:ext cx="2468880" cy="1417320"/>
          </a:xfrm>
          <a:prstGeom prst="roundRect">
            <a:avLst>
              <a:gd name="adj" fmla="val 7742"/>
            </a:avLst>
          </a:prstGeom>
          <a:solidFill>
            <a:srgbClr val="EAF4EE"/>
          </a:solidFill>
          <a:ln w="12700">
            <a:solidFill>
              <a:srgbClr val="EAF4EE"/>
            </a:solidFill>
            <a:prstDash val="solid"/>
          </a:ln>
        </p:spPr>
      </p:sp>
      <p:sp>
        <p:nvSpPr>
          <p:cNvPr id="28" name="feature 4 circle"/>
          <p:cNvSpPr/>
          <p:nvPr/>
        </p:nvSpPr>
        <p:spPr>
          <a:xfrm>
            <a:off x="6583680" y="4663440"/>
            <a:ext cx="502920" cy="502920"/>
          </a:xfrm>
          <a:prstGeom prst="ellipse">
            <a:avLst/>
          </a:prstGeom>
          <a:solidFill>
            <a:srgbClr val="12372A"/>
          </a:solidFill>
          <a:ln w="12700">
            <a:solidFill>
              <a:srgbClr val="12372A"/>
            </a:solidFill>
            <a:prstDash val="solid"/>
          </a:ln>
        </p:spPr>
      </p:sp>
      <p:pic>
        <p:nvPicPr>
          <p:cNvPr id="29" name="feature 4 icon" descr="preencoded.png">    </p:cNvPr>
          <p:cNvPicPr>
            <a:picLocks noChangeAspect="1"/>
          </p:cNvPicPr>
          <p:nvPr/>
        </p:nvPicPr>
        <p:blipFill>
          <a:blip r:embed="rId7"/>
          <a:stretch>
            <a:fillRect/>
          </a:stretch>
        </p:blipFill>
        <p:spPr>
          <a:xfrm>
            <a:off x="6709410" y="4789170"/>
            <a:ext cx="251460" cy="251460"/>
          </a:xfrm>
          <a:prstGeom prst="rect">
            <a:avLst/>
          </a:prstGeom>
        </p:spPr>
      </p:pic>
      <p:sp>
        <p:nvSpPr>
          <p:cNvPr id="30" name="Text 21"/>
          <p:cNvSpPr txBox="1"/>
          <p:nvPr/>
        </p:nvSpPr>
        <p:spPr>
          <a:xfrm>
            <a:off x="7178040" y="46817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Voice, 10 languages</a:t>
            </a:r>
            <a:endParaRPr lang="en-US" sz="1400" dirty="0"/>
          </a:p>
        </p:txBody>
      </p:sp>
      <p:sp>
        <p:nvSpPr>
          <p:cNvPr id="31" name="Text 22"/>
          <p:cNvSpPr txBox="1"/>
          <p:nvPr/>
        </p:nvSpPr>
        <p:spPr>
          <a:xfrm>
            <a:off x="6583680" y="52395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Speak Hindi, Marathi, Telugu, Tamil…; hear the answer back</a:t>
            </a:r>
            <a:endParaRPr lang="en-US" sz="1150" dirty="0"/>
          </a:p>
        </p:txBody>
      </p:sp>
      <p:sp>
        <p:nvSpPr>
          <p:cNvPr id="32" name="feature card 5"/>
          <p:cNvSpPr/>
          <p:nvPr/>
        </p:nvSpPr>
        <p:spPr>
          <a:xfrm>
            <a:off x="9098280" y="4526280"/>
            <a:ext cx="2468880" cy="1417320"/>
          </a:xfrm>
          <a:prstGeom prst="roundRect">
            <a:avLst>
              <a:gd name="adj" fmla="val 7742"/>
            </a:avLst>
          </a:prstGeom>
          <a:solidFill>
            <a:srgbClr val="EAF4EE"/>
          </a:solidFill>
          <a:ln w="12700">
            <a:solidFill>
              <a:srgbClr val="EAF4EE"/>
            </a:solidFill>
            <a:prstDash val="solid"/>
          </a:ln>
        </p:spPr>
      </p:sp>
      <p:sp>
        <p:nvSpPr>
          <p:cNvPr id="33" name="feature 5 circle"/>
          <p:cNvSpPr/>
          <p:nvPr/>
        </p:nvSpPr>
        <p:spPr>
          <a:xfrm>
            <a:off x="9235440" y="4663440"/>
            <a:ext cx="502920" cy="502920"/>
          </a:xfrm>
          <a:prstGeom prst="ellipse">
            <a:avLst/>
          </a:prstGeom>
          <a:solidFill>
            <a:srgbClr val="C0392B"/>
          </a:solidFill>
          <a:ln w="12700">
            <a:solidFill>
              <a:srgbClr val="C0392B"/>
            </a:solidFill>
            <a:prstDash val="solid"/>
          </a:ln>
        </p:spPr>
      </p:sp>
      <p:pic>
        <p:nvPicPr>
          <p:cNvPr id="34" name="feature 5 icon" descr="preencoded.png">    </p:cNvPr>
          <p:cNvPicPr>
            <a:picLocks noChangeAspect="1"/>
          </p:cNvPicPr>
          <p:nvPr/>
        </p:nvPicPr>
        <p:blipFill>
          <a:blip r:embed="rId8"/>
          <a:stretch>
            <a:fillRect/>
          </a:stretch>
        </p:blipFill>
        <p:spPr>
          <a:xfrm>
            <a:off x="9361170" y="4789170"/>
            <a:ext cx="251460" cy="251460"/>
          </a:xfrm>
          <a:prstGeom prst="rect">
            <a:avLst/>
          </a:prstGeom>
        </p:spPr>
      </p:pic>
      <p:sp>
        <p:nvSpPr>
          <p:cNvPr id="35" name="Text 25"/>
          <p:cNvSpPr txBox="1"/>
          <p:nvPr/>
        </p:nvSpPr>
        <p:spPr>
          <a:xfrm>
            <a:off x="9829800" y="4681728"/>
            <a:ext cx="1645920" cy="457200"/>
          </a:xfrm>
          <a:prstGeom prst="rect">
            <a:avLst/>
          </a:prstGeom>
          <a:noFill/>
          <a:ln/>
        </p:spPr>
        <p:txBody>
          <a:bodyPr wrap="square" lIns="0" tIns="0" rIns="0" bIns="0" rtlCol="0" anchor="ctr"/>
          <a:lstStyle/>
          <a:p>
            <a:pPr indent="0" marL="0">
              <a:buNone/>
            </a:pPr>
            <a:r>
              <a:rPr lang="en-US" sz="1400" b="1" dirty="0">
                <a:solidFill>
                  <a:srgbClr val="1B2A22"/>
                </a:solidFill>
                <a:latin typeface="Calibri" pitchFamily="34" charset="0"/>
                <a:ea typeface="Calibri" pitchFamily="34" charset="-122"/>
                <a:cs typeface="Calibri" pitchFamily="34" charset="-120"/>
              </a:rPr>
              <a:t>Proactive alerts</a:t>
            </a:r>
            <a:endParaRPr lang="en-US" sz="1400" dirty="0"/>
          </a:p>
        </p:txBody>
      </p:sp>
      <p:sp>
        <p:nvSpPr>
          <p:cNvPr id="36" name="Text 26"/>
          <p:cNvSpPr txBox="1"/>
          <p:nvPr/>
        </p:nvSpPr>
        <p:spPr>
          <a:xfrm>
            <a:off x="9235440" y="5239512"/>
            <a:ext cx="2240280" cy="658368"/>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Daily monitor re-checks saved plots and raises new risks</a:t>
            </a:r>
            <a:endParaRPr lang="en-US" sz="1150" dirty="0"/>
          </a:p>
        </p:txBody>
      </p:sp>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12372A"/>
                </a:solidFill>
                <a:latin typeface="Calibri" pitchFamily="34" charset="0"/>
                <a:ea typeface="Calibri" pitchFamily="34" charset="-122"/>
                <a:cs typeface="Calibri" pitchFamily="34" charset="-120"/>
              </a:rPr>
              <a:t>An agent that checks its own work before the farmer hears it</a:t>
            </a:r>
            <a:endParaRPr lang="en-US" sz="3200" dirty="0"/>
          </a:p>
        </p:txBody>
      </p:sp>
      <p:sp>
        <p:nvSpPr>
          <p:cNvPr id="3" name="agent step 0"/>
          <p:cNvSpPr/>
          <p:nvPr/>
        </p:nvSpPr>
        <p:spPr>
          <a:xfrm>
            <a:off x="548640" y="1280160"/>
            <a:ext cx="1965960" cy="1371600"/>
          </a:xfrm>
          <a:prstGeom prst="roundRect">
            <a:avLst>
              <a:gd name="adj" fmla="val 8000"/>
            </a:avLst>
          </a:prstGeom>
          <a:solidFill>
            <a:srgbClr val="EAF4EE"/>
          </a:solidFill>
          <a:ln w="12700">
            <a:solidFill>
              <a:srgbClr val="EAF4EE"/>
            </a:solidFill>
            <a:prstDash val="solid"/>
          </a:ln>
        </p:spPr>
      </p:sp>
      <p:sp>
        <p:nvSpPr>
          <p:cNvPr id="4" name="step 0 circle"/>
          <p:cNvSpPr/>
          <p:nvPr/>
        </p:nvSpPr>
        <p:spPr>
          <a:xfrm>
            <a:off x="1271016" y="1371600"/>
            <a:ext cx="512064" cy="512064"/>
          </a:xfrm>
          <a:prstGeom prst="ellipse">
            <a:avLst/>
          </a:prstGeom>
          <a:solidFill>
            <a:srgbClr val="12372A"/>
          </a:solidFill>
          <a:ln w="12700">
            <a:solidFill>
              <a:srgbClr val="12372A"/>
            </a:solidFill>
            <a:prstDash val="solid"/>
          </a:ln>
        </p:spPr>
      </p:sp>
      <p:pic>
        <p:nvPicPr>
          <p:cNvPr id="5" name="step 0 icon" descr="preencoded.png">    </p:cNvPr>
          <p:cNvPicPr>
            <a:picLocks noChangeAspect="1"/>
          </p:cNvPicPr>
          <p:nvPr/>
        </p:nvPicPr>
        <p:blipFill>
          <a:blip r:embed="rId1"/>
          <a:stretch>
            <a:fillRect/>
          </a:stretch>
        </p:blipFill>
        <p:spPr>
          <a:xfrm>
            <a:off x="1399032" y="1499616"/>
            <a:ext cx="256032" cy="256032"/>
          </a:xfrm>
          <a:prstGeom prst="rect">
            <a:avLst/>
          </a:prstGeom>
        </p:spPr>
      </p:pic>
      <p:sp>
        <p:nvSpPr>
          <p:cNvPr id="6" name="Text 3"/>
          <p:cNvSpPr txBox="1"/>
          <p:nvPr/>
        </p:nvSpPr>
        <p:spPr>
          <a:xfrm>
            <a:off x="640080" y="1938528"/>
            <a:ext cx="1783080" cy="320040"/>
          </a:xfrm>
          <a:prstGeom prst="rect">
            <a:avLst/>
          </a:prstGeom>
          <a:noFill/>
          <a:ln/>
        </p:spPr>
        <p:txBody>
          <a:bodyPr wrap="square" lIns="0" tIns="0" rIns="0" bIns="0" rtlCol="0" anchor="ctr"/>
          <a:lstStyle/>
          <a:p>
            <a:pPr algn="ctr" indent="0" marL="0">
              <a:buNone/>
            </a:pPr>
            <a:r>
              <a:rPr lang="en-US" sz="1400" b="1" dirty="0">
                <a:solidFill>
                  <a:srgbClr val="1B2A22"/>
                </a:solidFill>
                <a:latin typeface="Calibri" pitchFamily="34" charset="0"/>
                <a:ea typeface="Calibri" pitchFamily="34" charset="-122"/>
                <a:cs typeface="Calibri" pitchFamily="34" charset="-120"/>
              </a:rPr>
              <a:t>Voice question</a:t>
            </a:r>
            <a:endParaRPr lang="en-US" sz="1400" dirty="0"/>
          </a:p>
        </p:txBody>
      </p:sp>
      <p:sp>
        <p:nvSpPr>
          <p:cNvPr id="7" name="Text 4"/>
          <p:cNvSpPr txBox="1"/>
          <p:nvPr/>
        </p:nvSpPr>
        <p:spPr>
          <a:xfrm>
            <a:off x="640080" y="2249424"/>
            <a:ext cx="1783080" cy="384048"/>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Whisper STT, any of 10 languages</a:t>
            </a:r>
            <a:endParaRPr lang="en-US" sz="1100" dirty="0"/>
          </a:p>
        </p:txBody>
      </p:sp>
      <p:pic>
        <p:nvPicPr>
          <p:cNvPr id="8" name="flow arrow 0" descr="preencoded.png">    </p:cNvPr>
          <p:cNvPicPr>
            <a:picLocks noChangeAspect="1"/>
          </p:cNvPicPr>
          <p:nvPr/>
        </p:nvPicPr>
        <p:blipFill>
          <a:blip r:embed="rId2"/>
          <a:stretch>
            <a:fillRect/>
          </a:stretch>
        </p:blipFill>
        <p:spPr>
          <a:xfrm>
            <a:off x="2560320" y="1847088"/>
            <a:ext cx="237744" cy="237744"/>
          </a:xfrm>
          <a:prstGeom prst="rect">
            <a:avLst/>
          </a:prstGeom>
        </p:spPr>
      </p:pic>
      <p:sp>
        <p:nvSpPr>
          <p:cNvPr id="9" name="agent step 1"/>
          <p:cNvSpPr/>
          <p:nvPr/>
        </p:nvSpPr>
        <p:spPr>
          <a:xfrm>
            <a:off x="2834640" y="1280160"/>
            <a:ext cx="1965960" cy="1371600"/>
          </a:xfrm>
          <a:prstGeom prst="roundRect">
            <a:avLst>
              <a:gd name="adj" fmla="val 8000"/>
            </a:avLst>
          </a:prstGeom>
          <a:solidFill>
            <a:srgbClr val="EAF4EE"/>
          </a:solidFill>
          <a:ln w="12700">
            <a:solidFill>
              <a:srgbClr val="EAF4EE"/>
            </a:solidFill>
            <a:prstDash val="solid"/>
          </a:ln>
        </p:spPr>
      </p:sp>
      <p:sp>
        <p:nvSpPr>
          <p:cNvPr id="10" name="step 1 circle"/>
          <p:cNvSpPr/>
          <p:nvPr/>
        </p:nvSpPr>
        <p:spPr>
          <a:xfrm>
            <a:off x="3557016" y="1371600"/>
            <a:ext cx="512064" cy="512064"/>
          </a:xfrm>
          <a:prstGeom prst="ellipse">
            <a:avLst/>
          </a:prstGeom>
          <a:solidFill>
            <a:srgbClr val="1E6B48"/>
          </a:solidFill>
          <a:ln w="12700">
            <a:solidFill>
              <a:srgbClr val="1E6B48"/>
            </a:solidFill>
            <a:prstDash val="solid"/>
          </a:ln>
        </p:spPr>
      </p:sp>
      <p:pic>
        <p:nvPicPr>
          <p:cNvPr id="11" name="step 1 icon" descr="preencoded.png">    </p:cNvPr>
          <p:cNvPicPr>
            <a:picLocks noChangeAspect="1"/>
          </p:cNvPicPr>
          <p:nvPr/>
        </p:nvPicPr>
        <p:blipFill>
          <a:blip r:embed="rId3"/>
          <a:stretch>
            <a:fillRect/>
          </a:stretch>
        </p:blipFill>
        <p:spPr>
          <a:xfrm>
            <a:off x="3685032" y="1499616"/>
            <a:ext cx="256032" cy="256032"/>
          </a:xfrm>
          <a:prstGeom prst="rect">
            <a:avLst/>
          </a:prstGeom>
        </p:spPr>
      </p:pic>
      <p:sp>
        <p:nvSpPr>
          <p:cNvPr id="12" name="Text 7"/>
          <p:cNvSpPr txBox="1"/>
          <p:nvPr/>
        </p:nvSpPr>
        <p:spPr>
          <a:xfrm>
            <a:off x="2926080" y="1938528"/>
            <a:ext cx="1783080" cy="320040"/>
          </a:xfrm>
          <a:prstGeom prst="rect">
            <a:avLst/>
          </a:prstGeom>
          <a:noFill/>
          <a:ln/>
        </p:spPr>
        <p:txBody>
          <a:bodyPr wrap="square" lIns="0" tIns="0" rIns="0" bIns="0" rtlCol="0" anchor="ctr"/>
          <a:lstStyle/>
          <a:p>
            <a:pPr algn="ctr" indent="0" marL="0">
              <a:buNone/>
            </a:pPr>
            <a:r>
              <a:rPr lang="en-US" sz="1400" b="1" dirty="0">
                <a:solidFill>
                  <a:srgbClr val="1B2A22"/>
                </a:solidFill>
                <a:latin typeface="Calibri" pitchFamily="34" charset="0"/>
                <a:ea typeface="Calibri" pitchFamily="34" charset="-122"/>
                <a:cs typeface="Calibri" pitchFamily="34" charset="-120"/>
              </a:rPr>
              <a:t>Plan</a:t>
            </a:r>
            <a:endParaRPr lang="en-US" sz="1400" dirty="0"/>
          </a:p>
        </p:txBody>
      </p:sp>
      <p:sp>
        <p:nvSpPr>
          <p:cNvPr id="13" name="Text 8"/>
          <p:cNvSpPr txBox="1"/>
          <p:nvPr/>
        </p:nvSpPr>
        <p:spPr>
          <a:xfrm>
            <a:off x="2926080" y="2249424"/>
            <a:ext cx="1783080" cy="384048"/>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LLM picks tools (Groq gpt-oss-120b)</a:t>
            </a:r>
            <a:endParaRPr lang="en-US" sz="1100" dirty="0"/>
          </a:p>
        </p:txBody>
      </p:sp>
      <p:pic>
        <p:nvPicPr>
          <p:cNvPr id="14" name="flow arrow 1" descr="preencoded.png">    </p:cNvPr>
          <p:cNvPicPr>
            <a:picLocks noChangeAspect="1"/>
          </p:cNvPicPr>
          <p:nvPr/>
        </p:nvPicPr>
        <p:blipFill>
          <a:blip r:embed="rId4"/>
          <a:stretch>
            <a:fillRect/>
          </a:stretch>
        </p:blipFill>
        <p:spPr>
          <a:xfrm>
            <a:off x="4846320" y="1847088"/>
            <a:ext cx="237744" cy="237744"/>
          </a:xfrm>
          <a:prstGeom prst="rect">
            <a:avLst/>
          </a:prstGeom>
        </p:spPr>
      </p:pic>
      <p:sp>
        <p:nvSpPr>
          <p:cNvPr id="15" name="agent step 2"/>
          <p:cNvSpPr/>
          <p:nvPr/>
        </p:nvSpPr>
        <p:spPr>
          <a:xfrm>
            <a:off x="5120640" y="1280160"/>
            <a:ext cx="1965960" cy="1371600"/>
          </a:xfrm>
          <a:prstGeom prst="roundRect">
            <a:avLst>
              <a:gd name="adj" fmla="val 8000"/>
            </a:avLst>
          </a:prstGeom>
          <a:solidFill>
            <a:srgbClr val="EAF4EE"/>
          </a:solidFill>
          <a:ln w="12700">
            <a:solidFill>
              <a:srgbClr val="EAF4EE"/>
            </a:solidFill>
            <a:prstDash val="solid"/>
          </a:ln>
        </p:spPr>
      </p:sp>
      <p:sp>
        <p:nvSpPr>
          <p:cNvPr id="16" name="step 2 circle"/>
          <p:cNvSpPr/>
          <p:nvPr/>
        </p:nvSpPr>
        <p:spPr>
          <a:xfrm>
            <a:off x="5843016" y="1371600"/>
            <a:ext cx="512064" cy="512064"/>
          </a:xfrm>
          <a:prstGeom prst="ellipse">
            <a:avLst/>
          </a:prstGeom>
          <a:solidFill>
            <a:srgbClr val="1E6B48"/>
          </a:solidFill>
          <a:ln w="12700">
            <a:solidFill>
              <a:srgbClr val="1E6B48"/>
            </a:solidFill>
            <a:prstDash val="solid"/>
          </a:ln>
        </p:spPr>
      </p:sp>
      <p:pic>
        <p:nvPicPr>
          <p:cNvPr id="17" name="step 2 icon" descr="preencoded.png">    </p:cNvPr>
          <p:cNvPicPr>
            <a:picLocks noChangeAspect="1"/>
          </p:cNvPicPr>
          <p:nvPr/>
        </p:nvPicPr>
        <p:blipFill>
          <a:blip r:embed="rId5"/>
          <a:stretch>
            <a:fillRect/>
          </a:stretch>
        </p:blipFill>
        <p:spPr>
          <a:xfrm>
            <a:off x="5971032" y="1499616"/>
            <a:ext cx="256032" cy="256032"/>
          </a:xfrm>
          <a:prstGeom prst="rect">
            <a:avLst/>
          </a:prstGeom>
        </p:spPr>
      </p:pic>
      <p:sp>
        <p:nvSpPr>
          <p:cNvPr id="18" name="Text 11"/>
          <p:cNvSpPr txBox="1"/>
          <p:nvPr/>
        </p:nvSpPr>
        <p:spPr>
          <a:xfrm>
            <a:off x="5212080" y="1938528"/>
            <a:ext cx="1783080" cy="320040"/>
          </a:xfrm>
          <a:prstGeom prst="rect">
            <a:avLst/>
          </a:prstGeom>
          <a:noFill/>
          <a:ln/>
        </p:spPr>
        <p:txBody>
          <a:bodyPr wrap="square" lIns="0" tIns="0" rIns="0" bIns="0" rtlCol="0" anchor="ctr"/>
          <a:lstStyle/>
          <a:p>
            <a:pPr algn="ctr" indent="0" marL="0">
              <a:buNone/>
            </a:pPr>
            <a:r>
              <a:rPr lang="en-US" sz="1400" b="1" dirty="0">
                <a:solidFill>
                  <a:srgbClr val="1B2A22"/>
                </a:solidFill>
                <a:latin typeface="Calibri" pitchFamily="34" charset="0"/>
                <a:ea typeface="Calibri" pitchFamily="34" charset="-122"/>
                <a:cs typeface="Calibri" pitchFamily="34" charset="-120"/>
              </a:rPr>
              <a:t>Act</a:t>
            </a:r>
            <a:endParaRPr lang="en-US" sz="1400" dirty="0"/>
          </a:p>
        </p:txBody>
      </p:sp>
      <p:sp>
        <p:nvSpPr>
          <p:cNvPr id="19" name="Text 12"/>
          <p:cNvSpPr txBox="1"/>
          <p:nvPr/>
        </p:nvSpPr>
        <p:spPr>
          <a:xfrm>
            <a:off x="5212080" y="2249424"/>
            <a:ext cx="1783080" cy="384048"/>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9 plot-scoped tools run in parallel</a:t>
            </a:r>
            <a:endParaRPr lang="en-US" sz="1100" dirty="0"/>
          </a:p>
        </p:txBody>
      </p:sp>
      <p:pic>
        <p:nvPicPr>
          <p:cNvPr id="20" name="flow arrow 2" descr="preencoded.png">    </p:cNvPr>
          <p:cNvPicPr>
            <a:picLocks noChangeAspect="1"/>
          </p:cNvPicPr>
          <p:nvPr/>
        </p:nvPicPr>
        <p:blipFill>
          <a:blip r:embed="rId6"/>
          <a:stretch>
            <a:fillRect/>
          </a:stretch>
        </p:blipFill>
        <p:spPr>
          <a:xfrm>
            <a:off x="7132320" y="1847088"/>
            <a:ext cx="237744" cy="237744"/>
          </a:xfrm>
          <a:prstGeom prst="rect">
            <a:avLst/>
          </a:prstGeom>
        </p:spPr>
      </p:pic>
      <p:sp>
        <p:nvSpPr>
          <p:cNvPr id="21" name="agent step 3"/>
          <p:cNvSpPr/>
          <p:nvPr/>
        </p:nvSpPr>
        <p:spPr>
          <a:xfrm>
            <a:off x="7406640" y="1280160"/>
            <a:ext cx="1965960" cy="1371600"/>
          </a:xfrm>
          <a:prstGeom prst="roundRect">
            <a:avLst>
              <a:gd name="adj" fmla="val 8000"/>
            </a:avLst>
          </a:prstGeom>
          <a:solidFill>
            <a:srgbClr val="EAF4EE"/>
          </a:solidFill>
          <a:ln w="12700">
            <a:solidFill>
              <a:srgbClr val="EAF4EE"/>
            </a:solidFill>
            <a:prstDash val="solid"/>
          </a:ln>
        </p:spPr>
      </p:sp>
      <p:sp>
        <p:nvSpPr>
          <p:cNvPr id="22" name="step 3 circle"/>
          <p:cNvSpPr/>
          <p:nvPr/>
        </p:nvSpPr>
        <p:spPr>
          <a:xfrm>
            <a:off x="8129016" y="1371600"/>
            <a:ext cx="512064" cy="512064"/>
          </a:xfrm>
          <a:prstGeom prst="ellipse">
            <a:avLst/>
          </a:prstGeom>
          <a:solidFill>
            <a:srgbClr val="E8962E"/>
          </a:solidFill>
          <a:ln w="12700">
            <a:solidFill>
              <a:srgbClr val="E8962E"/>
            </a:solidFill>
            <a:prstDash val="solid"/>
          </a:ln>
        </p:spPr>
      </p:sp>
      <p:pic>
        <p:nvPicPr>
          <p:cNvPr id="23" name="step 3 icon" descr="preencoded.png">    </p:cNvPr>
          <p:cNvPicPr>
            <a:picLocks noChangeAspect="1"/>
          </p:cNvPicPr>
          <p:nvPr/>
        </p:nvPicPr>
        <p:blipFill>
          <a:blip r:embed="rId7"/>
          <a:stretch>
            <a:fillRect/>
          </a:stretch>
        </p:blipFill>
        <p:spPr>
          <a:xfrm>
            <a:off x="8257032" y="1499616"/>
            <a:ext cx="256032" cy="256032"/>
          </a:xfrm>
          <a:prstGeom prst="rect">
            <a:avLst/>
          </a:prstGeom>
        </p:spPr>
      </p:pic>
      <p:sp>
        <p:nvSpPr>
          <p:cNvPr id="24" name="Text 15"/>
          <p:cNvSpPr txBox="1"/>
          <p:nvPr/>
        </p:nvSpPr>
        <p:spPr>
          <a:xfrm>
            <a:off x="7498080" y="1938528"/>
            <a:ext cx="1783080" cy="320040"/>
          </a:xfrm>
          <a:prstGeom prst="rect">
            <a:avLst/>
          </a:prstGeom>
          <a:noFill/>
          <a:ln/>
        </p:spPr>
        <p:txBody>
          <a:bodyPr wrap="square" lIns="0" tIns="0" rIns="0" bIns="0" rtlCol="0" anchor="ctr"/>
          <a:lstStyle/>
          <a:p>
            <a:pPr algn="ctr" indent="0" marL="0">
              <a:buNone/>
            </a:pPr>
            <a:r>
              <a:rPr lang="en-US" sz="1400" b="1" dirty="0">
                <a:solidFill>
                  <a:srgbClr val="1B2A22"/>
                </a:solidFill>
                <a:latin typeface="Calibri" pitchFamily="34" charset="0"/>
                <a:ea typeface="Calibri" pitchFamily="34" charset="-122"/>
                <a:cs typeface="Calibri" pitchFamily="34" charset="-120"/>
              </a:rPr>
              <a:t>Fact-check</a:t>
            </a:r>
            <a:endParaRPr lang="en-US" sz="1400" dirty="0"/>
          </a:p>
        </p:txBody>
      </p:sp>
      <p:sp>
        <p:nvSpPr>
          <p:cNvPr id="25" name="Text 16"/>
          <p:cNvSpPr txBox="1"/>
          <p:nvPr/>
        </p:nvSpPr>
        <p:spPr>
          <a:xfrm>
            <a:off x="7498080" y="2249424"/>
            <a:ext cx="1783080" cy="384048"/>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Every number must match a tool output</a:t>
            </a:r>
            <a:endParaRPr lang="en-US" sz="1100" dirty="0"/>
          </a:p>
        </p:txBody>
      </p:sp>
      <p:pic>
        <p:nvPicPr>
          <p:cNvPr id="26" name="flow arrow 3" descr="preencoded.png">    </p:cNvPr>
          <p:cNvPicPr>
            <a:picLocks noChangeAspect="1"/>
          </p:cNvPicPr>
          <p:nvPr/>
        </p:nvPicPr>
        <p:blipFill>
          <a:blip r:embed="rId8"/>
          <a:stretch>
            <a:fillRect/>
          </a:stretch>
        </p:blipFill>
        <p:spPr>
          <a:xfrm>
            <a:off x="9418320" y="1847088"/>
            <a:ext cx="237744" cy="237744"/>
          </a:xfrm>
          <a:prstGeom prst="rect">
            <a:avLst/>
          </a:prstGeom>
        </p:spPr>
      </p:pic>
      <p:sp>
        <p:nvSpPr>
          <p:cNvPr id="27" name="agent step 4"/>
          <p:cNvSpPr/>
          <p:nvPr/>
        </p:nvSpPr>
        <p:spPr>
          <a:xfrm>
            <a:off x="9692640" y="1280160"/>
            <a:ext cx="1965960" cy="1371600"/>
          </a:xfrm>
          <a:prstGeom prst="roundRect">
            <a:avLst>
              <a:gd name="adj" fmla="val 8000"/>
            </a:avLst>
          </a:prstGeom>
          <a:solidFill>
            <a:srgbClr val="EAF4EE"/>
          </a:solidFill>
          <a:ln w="12700">
            <a:solidFill>
              <a:srgbClr val="EAF4EE"/>
            </a:solidFill>
            <a:prstDash val="solid"/>
          </a:ln>
        </p:spPr>
      </p:sp>
      <p:sp>
        <p:nvSpPr>
          <p:cNvPr id="28" name="step 4 circle"/>
          <p:cNvSpPr/>
          <p:nvPr/>
        </p:nvSpPr>
        <p:spPr>
          <a:xfrm>
            <a:off x="10415016" y="1371600"/>
            <a:ext cx="512064" cy="512064"/>
          </a:xfrm>
          <a:prstGeom prst="ellipse">
            <a:avLst/>
          </a:prstGeom>
          <a:solidFill>
            <a:srgbClr val="12372A"/>
          </a:solidFill>
          <a:ln w="12700">
            <a:solidFill>
              <a:srgbClr val="12372A"/>
            </a:solidFill>
            <a:prstDash val="solid"/>
          </a:ln>
        </p:spPr>
      </p:sp>
      <p:pic>
        <p:nvPicPr>
          <p:cNvPr id="29" name="step 4 icon" descr="preencoded.png">    </p:cNvPr>
          <p:cNvPicPr>
            <a:picLocks noChangeAspect="1"/>
          </p:cNvPicPr>
          <p:nvPr/>
        </p:nvPicPr>
        <p:blipFill>
          <a:blip r:embed="rId9"/>
          <a:stretch>
            <a:fillRect/>
          </a:stretch>
        </p:blipFill>
        <p:spPr>
          <a:xfrm>
            <a:off x="10543032" y="1499616"/>
            <a:ext cx="256032" cy="256032"/>
          </a:xfrm>
          <a:prstGeom prst="rect">
            <a:avLst/>
          </a:prstGeom>
        </p:spPr>
      </p:pic>
      <p:sp>
        <p:nvSpPr>
          <p:cNvPr id="30" name="Text 19"/>
          <p:cNvSpPr txBox="1"/>
          <p:nvPr/>
        </p:nvSpPr>
        <p:spPr>
          <a:xfrm>
            <a:off x="9784080" y="1938528"/>
            <a:ext cx="1783080" cy="320040"/>
          </a:xfrm>
          <a:prstGeom prst="rect">
            <a:avLst/>
          </a:prstGeom>
          <a:noFill/>
          <a:ln/>
        </p:spPr>
        <p:txBody>
          <a:bodyPr wrap="square" lIns="0" tIns="0" rIns="0" bIns="0" rtlCol="0" anchor="ctr"/>
          <a:lstStyle/>
          <a:p>
            <a:pPr algn="ctr" indent="0" marL="0">
              <a:buNone/>
            </a:pPr>
            <a:r>
              <a:rPr lang="en-US" sz="1400" b="1" dirty="0">
                <a:solidFill>
                  <a:srgbClr val="1B2A22"/>
                </a:solidFill>
                <a:latin typeface="Calibri" pitchFamily="34" charset="0"/>
                <a:ea typeface="Calibri" pitchFamily="34" charset="-122"/>
                <a:cs typeface="Calibri" pitchFamily="34" charset="-120"/>
              </a:rPr>
              <a:t>Translate &amp; speak</a:t>
            </a:r>
            <a:endParaRPr lang="en-US" sz="1400" dirty="0"/>
          </a:p>
        </p:txBody>
      </p:sp>
      <p:sp>
        <p:nvSpPr>
          <p:cNvPr id="31" name="Text 20"/>
          <p:cNvSpPr txBox="1"/>
          <p:nvPr/>
        </p:nvSpPr>
        <p:spPr>
          <a:xfrm>
            <a:off x="9784080" y="2249424"/>
            <a:ext cx="1783080" cy="384048"/>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Numbers re-checked after translation</a:t>
            </a:r>
            <a:endParaRPr lang="en-US" sz="1100" dirty="0"/>
          </a:p>
        </p:txBody>
      </p:sp>
      <p:pic>
        <p:nvPicPr>
          <p:cNvPr id="32" name="rewrite loop icon" descr="preencoded.png">    </p:cNvPr>
          <p:cNvPicPr>
            <a:picLocks noChangeAspect="1"/>
          </p:cNvPicPr>
          <p:nvPr/>
        </p:nvPicPr>
        <p:blipFill>
          <a:blip r:embed="rId10"/>
          <a:stretch>
            <a:fillRect/>
          </a:stretch>
        </p:blipFill>
        <p:spPr>
          <a:xfrm>
            <a:off x="548640" y="2779776"/>
            <a:ext cx="256032" cy="256032"/>
          </a:xfrm>
          <a:prstGeom prst="rect">
            <a:avLst/>
          </a:prstGeom>
        </p:spPr>
      </p:pic>
      <p:sp>
        <p:nvSpPr>
          <p:cNvPr id="33" name="Text 21"/>
          <p:cNvSpPr txBox="1"/>
          <p:nvPr/>
        </p:nvSpPr>
        <p:spPr>
          <a:xfrm>
            <a:off x="896112" y="2761488"/>
            <a:ext cx="10698480" cy="292608"/>
          </a:xfrm>
          <a:prstGeom prst="rect">
            <a:avLst/>
          </a:prstGeom>
          <a:noFill/>
          <a:ln/>
        </p:spPr>
        <p:txBody>
          <a:bodyPr wrap="square" lIns="0" tIns="0" rIns="0" bIns="0" rtlCol="0" anchor="ctr"/>
          <a:lstStyle/>
          <a:p>
            <a:pPr indent="0" marL="0">
              <a:buNone/>
            </a:pPr>
            <a:r>
              <a:rPr lang="en-US" sz="1200" i="1" dirty="0">
                <a:solidFill>
                  <a:srgbClr val="E8962E"/>
                </a:solidFill>
                <a:latin typeface="Calibri" pitchFamily="34" charset="0"/>
                <a:ea typeface="Calibri" pitchFamily="34" charset="-122"/>
                <a:cs typeface="Calibri" pitchFamily="34" charset="-120"/>
              </a:rPr>
              <a:t>Fails? The agent is told exactly which number failed and rewrites; anything still unverifiable is removed.</a:t>
            </a:r>
            <a:endParaRPr lang="en-US" sz="1200" dirty="0"/>
          </a:p>
        </p:txBody>
      </p:sp>
      <p:sp>
        <p:nvSpPr>
          <p:cNvPr id="34" name="guard 0 circle"/>
          <p:cNvSpPr/>
          <p:nvPr/>
        </p:nvSpPr>
        <p:spPr>
          <a:xfrm>
            <a:off x="548640" y="3337560"/>
            <a:ext cx="475488" cy="475488"/>
          </a:xfrm>
          <a:prstGeom prst="ellipse">
            <a:avLst/>
          </a:prstGeom>
          <a:solidFill>
            <a:srgbClr val="1E6B48"/>
          </a:solidFill>
          <a:ln w="12700">
            <a:solidFill>
              <a:srgbClr val="1E6B48"/>
            </a:solidFill>
            <a:prstDash val="solid"/>
          </a:ln>
        </p:spPr>
      </p:sp>
      <p:pic>
        <p:nvPicPr>
          <p:cNvPr id="35" name="guard 0 icon" descr="preencoded.png">    </p:cNvPr>
          <p:cNvPicPr>
            <a:picLocks noChangeAspect="1"/>
          </p:cNvPicPr>
          <p:nvPr/>
        </p:nvPicPr>
        <p:blipFill>
          <a:blip r:embed="rId11"/>
          <a:stretch>
            <a:fillRect/>
          </a:stretch>
        </p:blipFill>
        <p:spPr>
          <a:xfrm>
            <a:off x="667512" y="3456432"/>
            <a:ext cx="237744" cy="237744"/>
          </a:xfrm>
          <a:prstGeom prst="rect">
            <a:avLst/>
          </a:prstGeom>
        </p:spPr>
      </p:pic>
      <p:sp>
        <p:nvSpPr>
          <p:cNvPr id="36" name="Text 23"/>
          <p:cNvSpPr txBox="1"/>
          <p:nvPr/>
        </p:nvSpPr>
        <p:spPr>
          <a:xfrm>
            <a:off x="1188720" y="3282696"/>
            <a:ext cx="5374530" cy="640080"/>
          </a:xfrm>
          <a:prstGeom prst="rect">
            <a:avLst/>
          </a:prstGeom>
          <a:noFill/>
          <a:ln/>
        </p:spPr>
        <p:txBody>
          <a:bodyPr wrap="square" lIns="0" tIns="0" rIns="0" bIns="0" rtlCol="0" anchor="ctr"/>
          <a:lstStyle/>
          <a:p>
            <a:pPr indent="0" marL="0">
              <a:buNone/>
            </a:pPr>
            <a:r>
              <a:rPr lang="en-US" sz="1250" b="1" dirty="0">
                <a:solidFill>
                  <a:srgbClr val="1B2A22"/>
                </a:solidFill>
                <a:latin typeface="Calibri" pitchFamily="34" charset="0"/>
                <a:ea typeface="Calibri" pitchFamily="34" charset="-122"/>
                <a:cs typeface="Calibri" pitchFamily="34" charset="-120"/>
              </a:rPr>
              <a:t>The LLM never does arithmetic  </a:t>
            </a:r>
            <a:pPr indent="0" marL="0">
              <a:buNone/>
            </a:pPr>
            <a:r>
              <a:rPr lang="en-US" sz="1250" dirty="0">
                <a:solidFill>
                  <a:srgbClr val="5B6B62"/>
                </a:solidFill>
                <a:latin typeface="Calibri" pitchFamily="34" charset="0"/>
                <a:ea typeface="Calibri" pitchFamily="34" charset="-122"/>
                <a:cs typeface="Calibri" pitchFamily="34" charset="-120"/>
              </a:rPr>
              <a:t>FAO-56 and IMD engines compute every number; the LLM plans and explains.</a:t>
            </a:r>
            <a:endParaRPr lang="en-US" sz="1250" dirty="0"/>
          </a:p>
        </p:txBody>
      </p:sp>
      <p:sp>
        <p:nvSpPr>
          <p:cNvPr id="37" name="guard 1 circle"/>
          <p:cNvSpPr/>
          <p:nvPr/>
        </p:nvSpPr>
        <p:spPr>
          <a:xfrm>
            <a:off x="548640" y="4087368"/>
            <a:ext cx="475488" cy="475488"/>
          </a:xfrm>
          <a:prstGeom prst="ellipse">
            <a:avLst/>
          </a:prstGeom>
          <a:solidFill>
            <a:srgbClr val="1E6B48"/>
          </a:solidFill>
          <a:ln w="12700">
            <a:solidFill>
              <a:srgbClr val="1E6B48"/>
            </a:solidFill>
            <a:prstDash val="solid"/>
          </a:ln>
        </p:spPr>
      </p:sp>
      <p:pic>
        <p:nvPicPr>
          <p:cNvPr id="38" name="guard 1 icon" descr="preencoded.png">    </p:cNvPr>
          <p:cNvPicPr>
            <a:picLocks noChangeAspect="1"/>
          </p:cNvPicPr>
          <p:nvPr/>
        </p:nvPicPr>
        <p:blipFill>
          <a:blip r:embed="rId12"/>
          <a:stretch>
            <a:fillRect/>
          </a:stretch>
        </p:blipFill>
        <p:spPr>
          <a:xfrm>
            <a:off x="667512" y="4206240"/>
            <a:ext cx="237744" cy="237744"/>
          </a:xfrm>
          <a:prstGeom prst="rect">
            <a:avLst/>
          </a:prstGeom>
        </p:spPr>
      </p:pic>
      <p:sp>
        <p:nvSpPr>
          <p:cNvPr id="39" name="Text 25"/>
          <p:cNvSpPr txBox="1"/>
          <p:nvPr/>
        </p:nvSpPr>
        <p:spPr>
          <a:xfrm>
            <a:off x="1188720" y="4032504"/>
            <a:ext cx="5374530" cy="640080"/>
          </a:xfrm>
          <a:prstGeom prst="rect">
            <a:avLst/>
          </a:prstGeom>
          <a:noFill/>
          <a:ln/>
        </p:spPr>
        <p:txBody>
          <a:bodyPr wrap="square" lIns="0" tIns="0" rIns="0" bIns="0" rtlCol="0" anchor="ctr"/>
          <a:lstStyle/>
          <a:p>
            <a:pPr indent="0" marL="0">
              <a:buNone/>
            </a:pPr>
            <a:r>
              <a:rPr lang="en-US" sz="1250" b="1" dirty="0">
                <a:solidFill>
                  <a:srgbClr val="1B2A22"/>
                </a:solidFill>
                <a:latin typeface="Calibri" pitchFamily="34" charset="0"/>
                <a:ea typeface="Calibri" pitchFamily="34" charset="-122"/>
                <a:cs typeface="Calibri" pitchFamily="34" charset="-120"/>
              </a:rPr>
              <a:t>No invented pesticide doses  </a:t>
            </a:r>
            <a:pPr indent="0" marL="0">
              <a:buNone/>
            </a:pPr>
            <a:r>
              <a:rPr lang="en-US" sz="1250" dirty="0">
                <a:solidFill>
                  <a:srgbClr val="5B6B62"/>
                </a:solidFill>
                <a:latin typeface="Calibri" pitchFamily="34" charset="0"/>
                <a:ea typeface="Calibri" pitchFamily="34" charset="-122"/>
                <a:cs typeface="Calibri" pitchFamily="34" charset="-120"/>
              </a:rPr>
              <a:t>A dose is allowed only if it appears in a retrieved FAO / TNAU document; otherwise refer to the KVK.</a:t>
            </a:r>
            <a:endParaRPr lang="en-US" sz="1250" dirty="0"/>
          </a:p>
        </p:txBody>
      </p:sp>
      <p:sp>
        <p:nvSpPr>
          <p:cNvPr id="40" name="guard 2 circle"/>
          <p:cNvSpPr/>
          <p:nvPr/>
        </p:nvSpPr>
        <p:spPr>
          <a:xfrm>
            <a:off x="548640" y="4837176"/>
            <a:ext cx="475488" cy="475488"/>
          </a:xfrm>
          <a:prstGeom prst="ellipse">
            <a:avLst/>
          </a:prstGeom>
          <a:solidFill>
            <a:srgbClr val="1E6B48"/>
          </a:solidFill>
          <a:ln w="12700">
            <a:solidFill>
              <a:srgbClr val="1E6B48"/>
            </a:solidFill>
            <a:prstDash val="solid"/>
          </a:ln>
        </p:spPr>
      </p:sp>
      <p:pic>
        <p:nvPicPr>
          <p:cNvPr id="41" name="guard 2 icon" descr="preencoded.png">    </p:cNvPr>
          <p:cNvPicPr>
            <a:picLocks noChangeAspect="1"/>
          </p:cNvPicPr>
          <p:nvPr/>
        </p:nvPicPr>
        <p:blipFill>
          <a:blip r:embed="rId13"/>
          <a:stretch>
            <a:fillRect/>
          </a:stretch>
        </p:blipFill>
        <p:spPr>
          <a:xfrm>
            <a:off x="667512" y="4956048"/>
            <a:ext cx="237744" cy="237744"/>
          </a:xfrm>
          <a:prstGeom prst="rect">
            <a:avLst/>
          </a:prstGeom>
        </p:spPr>
      </p:pic>
      <p:sp>
        <p:nvSpPr>
          <p:cNvPr id="42" name="Text 27"/>
          <p:cNvSpPr txBox="1"/>
          <p:nvPr/>
        </p:nvSpPr>
        <p:spPr>
          <a:xfrm>
            <a:off x="1188720" y="4782312"/>
            <a:ext cx="5374530" cy="640080"/>
          </a:xfrm>
          <a:prstGeom prst="rect">
            <a:avLst/>
          </a:prstGeom>
          <a:noFill/>
          <a:ln/>
        </p:spPr>
        <p:txBody>
          <a:bodyPr wrap="square" lIns="0" tIns="0" rIns="0" bIns="0" rtlCol="0" anchor="ctr"/>
          <a:lstStyle/>
          <a:p>
            <a:pPr indent="0" marL="0">
              <a:buNone/>
            </a:pPr>
            <a:r>
              <a:rPr lang="en-US" sz="1250" b="1" dirty="0">
                <a:solidFill>
                  <a:srgbClr val="1B2A22"/>
                </a:solidFill>
                <a:latin typeface="Calibri" pitchFamily="34" charset="0"/>
                <a:ea typeface="Calibri" pitchFamily="34" charset="-122"/>
                <a:cs typeface="Calibri" pitchFamily="34" charset="-120"/>
              </a:rPr>
              <a:t>Robust to prompt injection  </a:t>
            </a:r>
            <a:pPr indent="0" marL="0">
              <a:buNone/>
            </a:pPr>
            <a:r>
              <a:rPr lang="en-US" sz="1250" dirty="0">
                <a:solidFill>
                  <a:srgbClr val="5B6B62"/>
                </a:solidFill>
                <a:latin typeface="Calibri" pitchFamily="34" charset="0"/>
                <a:ea typeface="Calibri" pitchFamily="34" charset="-122"/>
                <a:cs typeface="Calibri" pitchFamily="34" charset="-120"/>
              </a:rPr>
              <a:t>Numbers typed by the user never count as evidence.</a:t>
            </a:r>
            <a:endParaRPr lang="en-US" sz="1250" dirty="0"/>
          </a:p>
        </p:txBody>
      </p:sp>
      <p:sp>
        <p:nvSpPr>
          <p:cNvPr id="43" name="guard 3 circle"/>
          <p:cNvSpPr/>
          <p:nvPr/>
        </p:nvSpPr>
        <p:spPr>
          <a:xfrm>
            <a:off x="548640" y="5586984"/>
            <a:ext cx="475488" cy="475488"/>
          </a:xfrm>
          <a:prstGeom prst="ellipse">
            <a:avLst/>
          </a:prstGeom>
          <a:solidFill>
            <a:srgbClr val="1E6B48"/>
          </a:solidFill>
          <a:ln w="12700">
            <a:solidFill>
              <a:srgbClr val="1E6B48"/>
            </a:solidFill>
            <a:prstDash val="solid"/>
          </a:ln>
        </p:spPr>
      </p:sp>
      <p:pic>
        <p:nvPicPr>
          <p:cNvPr id="44" name="guard 3 icon" descr="preencoded.png">    </p:cNvPr>
          <p:cNvPicPr>
            <a:picLocks noChangeAspect="1"/>
          </p:cNvPicPr>
          <p:nvPr/>
        </p:nvPicPr>
        <p:blipFill>
          <a:blip r:embed="rId14"/>
          <a:stretch>
            <a:fillRect/>
          </a:stretch>
        </p:blipFill>
        <p:spPr>
          <a:xfrm>
            <a:off x="667512" y="5705856"/>
            <a:ext cx="237744" cy="237744"/>
          </a:xfrm>
          <a:prstGeom prst="rect">
            <a:avLst/>
          </a:prstGeom>
        </p:spPr>
      </p:pic>
      <p:sp>
        <p:nvSpPr>
          <p:cNvPr id="45" name="Text 29"/>
          <p:cNvSpPr txBox="1"/>
          <p:nvPr/>
        </p:nvSpPr>
        <p:spPr>
          <a:xfrm>
            <a:off x="1188720" y="5532120"/>
            <a:ext cx="5374530" cy="640080"/>
          </a:xfrm>
          <a:prstGeom prst="rect">
            <a:avLst/>
          </a:prstGeom>
          <a:noFill/>
          <a:ln/>
        </p:spPr>
        <p:txBody>
          <a:bodyPr wrap="square" lIns="0" tIns="0" rIns="0" bIns="0" rtlCol="0" anchor="ctr"/>
          <a:lstStyle/>
          <a:p>
            <a:pPr indent="0" marL="0">
              <a:buNone/>
            </a:pPr>
            <a:r>
              <a:rPr lang="en-US" sz="1250" b="1" dirty="0">
                <a:solidFill>
                  <a:srgbClr val="1B2A22"/>
                </a:solidFill>
                <a:latin typeface="Calibri" pitchFamily="34" charset="0"/>
                <a:ea typeface="Calibri" pitchFamily="34" charset="-122"/>
                <a:cs typeface="Calibri" pitchFamily="34" charset="-120"/>
              </a:rPr>
              <a:t>Self-correcting  </a:t>
            </a:r>
            <a:pPr indent="0" marL="0">
              <a:buNone/>
            </a:pPr>
            <a:r>
              <a:rPr lang="en-US" sz="1250" dirty="0">
                <a:solidFill>
                  <a:srgbClr val="5B6B62"/>
                </a:solidFill>
                <a:latin typeface="Calibri" pitchFamily="34" charset="0"/>
                <a:ea typeface="Calibri" pitchFamily="34" charset="-122"/>
                <a:cs typeface="Calibri" pitchFamily="34" charset="-120"/>
              </a:rPr>
              <a:t>Bad tool calls, timeouts, failing sources and rate limits are fed back; the agent recovers.</a:t>
            </a:r>
            <a:endParaRPr lang="en-US" sz="1250" dirty="0"/>
          </a:p>
        </p:txBody>
      </p:sp>
      <p:sp>
        <p:nvSpPr>
          <p:cNvPr id="46" name="Live Hindi answer with agent trace frame"/>
          <p:cNvSpPr/>
          <p:nvPr/>
        </p:nvSpPr>
        <p:spPr>
          <a:xfrm>
            <a:off x="6736986" y="3191256"/>
            <a:ext cx="4976478" cy="3236976"/>
          </a:xfrm>
          <a:prstGeom prst="roundRect">
            <a:avLst>
              <a:gd name="adj" fmla="val 2260"/>
            </a:avLst>
          </a:prstGeom>
          <a:solidFill>
            <a:srgbClr val="FFFFFF"/>
          </a:solidFill>
          <a:ln w="12700">
            <a:solidFill>
              <a:srgbClr val="D5E3DA"/>
            </a:solidFill>
            <a:prstDash val="solid"/>
          </a:ln>
          <a:effectLst>
            <a:outerShdw sx="100000" sy="100000" kx="0" ky="0" algn="bl" rotWithShape="0" blurRad="101600" dist="38100" dir="5400000">
              <a:srgbClr val="000000">
                <a:alpha val="18000"/>
              </a:srgbClr>
            </a:outerShdw>
          </a:effectLst>
        </p:spPr>
      </p:sp>
      <p:pic>
        <p:nvPicPr>
          <p:cNvPr id="47" name="Live Hindi answer with agent trace" descr="preencoded.png">    </p:cNvPr>
          <p:cNvPicPr>
            <a:picLocks noChangeAspect="1"/>
          </p:cNvPicPr>
          <p:nvPr/>
        </p:nvPicPr>
        <p:blipFill>
          <a:blip r:embed="rId15"/>
          <a:stretch>
            <a:fillRect/>
          </a:stretch>
        </p:blipFill>
        <p:spPr>
          <a:xfrm>
            <a:off x="6791850" y="3246120"/>
            <a:ext cx="4866750" cy="3127248"/>
          </a:xfrm>
          <a:prstGeom prst="rect">
            <a:avLst/>
          </a:prstGeom>
        </p:spPr>
      </p:pic>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12372A"/>
                </a:solidFill>
                <a:latin typeface="Calibri" pitchFamily="34" charset="0"/>
                <a:ea typeface="Calibri" pitchFamily="34" charset="-122"/>
                <a:cs typeface="Calibri" pitchFamily="34" charset="-120"/>
              </a:rPr>
              <a:t>Architecture: live data in, verified advice out, nothing made up</a:t>
            </a:r>
            <a:endParaRPr lang="en-US" sz="3200" dirty="0"/>
          </a:p>
        </p:txBody>
      </p:sp>
      <p:sp>
        <p:nvSpPr>
          <p:cNvPr id="3" name="lane sources"/>
          <p:cNvSpPr/>
          <p:nvPr/>
        </p:nvSpPr>
        <p:spPr>
          <a:xfrm>
            <a:off x="548640" y="1325880"/>
            <a:ext cx="2651760" cy="3794760"/>
          </a:xfrm>
          <a:prstGeom prst="roundRect">
            <a:avLst>
              <a:gd name="adj" fmla="val 4138"/>
            </a:avLst>
          </a:prstGeom>
          <a:solidFill>
            <a:srgbClr val="EAF4EE"/>
          </a:solidFill>
          <a:ln w="12700">
            <a:solidFill>
              <a:srgbClr val="EAF4EE"/>
            </a:solidFill>
            <a:prstDash val="solid"/>
          </a:ln>
        </p:spPr>
      </p:sp>
      <p:sp>
        <p:nvSpPr>
          <p:cNvPr id="4" name="Text 2"/>
          <p:cNvSpPr txBox="1"/>
          <p:nvPr/>
        </p:nvSpPr>
        <p:spPr>
          <a:xfrm>
            <a:off x="731520" y="1463040"/>
            <a:ext cx="2286000" cy="411480"/>
          </a:xfrm>
          <a:prstGeom prst="rect">
            <a:avLst/>
          </a:prstGeom>
          <a:noFill/>
          <a:ln/>
        </p:spPr>
        <p:txBody>
          <a:bodyPr wrap="square" lIns="0" tIns="0" rIns="0" bIns="0" rtlCol="0" anchor="ctr"/>
          <a:lstStyle/>
          <a:p>
            <a:pPr indent="0" marL="0">
              <a:buNone/>
            </a:pPr>
            <a:r>
              <a:rPr lang="en-US" sz="1500" b="1" dirty="0">
                <a:solidFill>
                  <a:srgbClr val="12372A"/>
                </a:solidFill>
                <a:latin typeface="Calibri" pitchFamily="34" charset="0"/>
                <a:ea typeface="Calibri" pitchFamily="34" charset="-122"/>
                <a:cs typeface="Calibri" pitchFamily="34" charset="-120"/>
              </a:rPr>
              <a:t>1 · Live data sources</a:t>
            </a:r>
            <a:endParaRPr lang="en-US" sz="1500" dirty="0"/>
          </a:p>
        </p:txBody>
      </p:sp>
      <p:sp>
        <p:nvSpPr>
          <p:cNvPr id="5" name="Text 3"/>
          <p:cNvSpPr txBox="1"/>
          <p:nvPr/>
        </p:nvSpPr>
        <p:spPr>
          <a:xfrm>
            <a:off x="731520" y="1965960"/>
            <a:ext cx="2331720" cy="3063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Sentinel-2 L2A (Planetary Computer / Copernicus / Earth Search)</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Open-Meteo forecast + soil moisture</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ERA5 10-yr rainfall</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ISRIC SoilGrids</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data.gov.in Agmarknet (live + history)</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OpenStreetMap geocoding</a:t>
            </a:r>
            <a:endParaRPr lang="en-US" sz="1200" dirty="0"/>
          </a:p>
        </p:txBody>
      </p:sp>
      <p:sp>
        <p:nvSpPr>
          <p:cNvPr id="6" name="lane fetch"/>
          <p:cNvSpPr/>
          <p:nvPr/>
        </p:nvSpPr>
        <p:spPr>
          <a:xfrm>
            <a:off x="3383280" y="1325880"/>
            <a:ext cx="2651760" cy="3794760"/>
          </a:xfrm>
          <a:prstGeom prst="roundRect">
            <a:avLst>
              <a:gd name="adj" fmla="val 4138"/>
            </a:avLst>
          </a:prstGeom>
          <a:solidFill>
            <a:srgbClr val="EAF4EE"/>
          </a:solidFill>
          <a:ln w="12700">
            <a:solidFill>
              <a:srgbClr val="EAF4EE"/>
            </a:solidFill>
            <a:prstDash val="solid"/>
          </a:ln>
        </p:spPr>
      </p:sp>
      <p:sp>
        <p:nvSpPr>
          <p:cNvPr id="7" name="Text 5"/>
          <p:cNvSpPr txBox="1"/>
          <p:nvPr/>
        </p:nvSpPr>
        <p:spPr>
          <a:xfrm>
            <a:off x="3566160" y="1463040"/>
            <a:ext cx="2286000" cy="411480"/>
          </a:xfrm>
          <a:prstGeom prst="rect">
            <a:avLst/>
          </a:prstGeom>
          <a:noFill/>
          <a:ln/>
        </p:spPr>
        <p:txBody>
          <a:bodyPr wrap="square" lIns="0" tIns="0" rIns="0" bIns="0" rtlCol="0" anchor="ctr"/>
          <a:lstStyle/>
          <a:p>
            <a:pPr indent="0" marL="0">
              <a:buNone/>
            </a:pPr>
            <a:r>
              <a:rPr lang="en-US" sz="1500" b="1" dirty="0">
                <a:solidFill>
                  <a:srgbClr val="12372A"/>
                </a:solidFill>
                <a:latin typeface="Calibri" pitchFamily="34" charset="0"/>
                <a:ea typeface="Calibri" pitchFamily="34" charset="-122"/>
                <a:cs typeface="Calibri" pitchFamily="34" charset="-120"/>
              </a:rPr>
              <a:t>2 · Fetch layer</a:t>
            </a:r>
            <a:endParaRPr lang="en-US" sz="1500" dirty="0"/>
          </a:p>
        </p:txBody>
      </p:sp>
      <p:sp>
        <p:nvSpPr>
          <p:cNvPr id="8" name="Text 6"/>
          <p:cNvSpPr txBox="1"/>
          <p:nvPr/>
        </p:nvSpPr>
        <p:spPr>
          <a:xfrm>
            <a:off x="3566160" y="1965960"/>
            <a:ext cx="2331720" cy="3063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Every call: timeout, retry, cache</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Provenance on every number: live / cache / stale + age</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Fallback chains: Open-Meteo → MET Norway, ERA5 → NASA POWER, SoilGrids REST → WCS, Nominatim → Photon</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Circuit breakers, time budgets</a:t>
            </a:r>
            <a:endParaRPr lang="en-US" sz="1200" dirty="0"/>
          </a:p>
        </p:txBody>
      </p:sp>
      <p:sp>
        <p:nvSpPr>
          <p:cNvPr id="9" name="lane engines"/>
          <p:cNvSpPr/>
          <p:nvPr/>
        </p:nvSpPr>
        <p:spPr>
          <a:xfrm>
            <a:off x="6217920" y="1325880"/>
            <a:ext cx="2651760" cy="3794760"/>
          </a:xfrm>
          <a:prstGeom prst="roundRect">
            <a:avLst>
              <a:gd name="adj" fmla="val 4138"/>
            </a:avLst>
          </a:prstGeom>
          <a:solidFill>
            <a:srgbClr val="EAF4EE"/>
          </a:solidFill>
          <a:ln w="12700">
            <a:solidFill>
              <a:srgbClr val="EAF4EE"/>
            </a:solidFill>
            <a:prstDash val="solid"/>
          </a:ln>
        </p:spPr>
      </p:sp>
      <p:sp>
        <p:nvSpPr>
          <p:cNvPr id="10" name="Text 8"/>
          <p:cNvSpPr txBox="1"/>
          <p:nvPr/>
        </p:nvSpPr>
        <p:spPr>
          <a:xfrm>
            <a:off x="6400800" y="1463040"/>
            <a:ext cx="2286000" cy="411480"/>
          </a:xfrm>
          <a:prstGeom prst="rect">
            <a:avLst/>
          </a:prstGeom>
          <a:noFill/>
          <a:ln/>
        </p:spPr>
        <p:txBody>
          <a:bodyPr wrap="square" lIns="0" tIns="0" rIns="0" bIns="0" rtlCol="0" anchor="ctr"/>
          <a:lstStyle/>
          <a:p>
            <a:pPr indent="0" marL="0">
              <a:buNone/>
            </a:pPr>
            <a:r>
              <a:rPr lang="en-US" sz="1500" b="1" dirty="0">
                <a:solidFill>
                  <a:srgbClr val="12372A"/>
                </a:solidFill>
                <a:latin typeface="Calibri" pitchFamily="34" charset="0"/>
                <a:ea typeface="Calibri" pitchFamily="34" charset="-122"/>
                <a:cs typeface="Calibri" pitchFamily="34" charset="-120"/>
              </a:rPr>
              <a:t>3 · Engines + agent</a:t>
            </a:r>
            <a:endParaRPr lang="en-US" sz="1500" dirty="0"/>
          </a:p>
        </p:txBody>
      </p:sp>
      <p:sp>
        <p:nvSpPr>
          <p:cNvPr id="11" name="Text 9"/>
          <p:cNvSpPr txBox="1"/>
          <p:nvPr/>
        </p:nvSpPr>
        <p:spPr>
          <a:xfrm>
            <a:off x="6400800" y="1965960"/>
            <a:ext cx="2331720" cy="3063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FAO-56 water balance, crop stage (14 crops)</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IMD-threshold risk rules</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BM25 RAG over FAO-56 + TNAU docs</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Groq agent + model fallback &amp; key rotation</a:t>
            </a:r>
            <a:endParaRPr lang="en-US" sz="1200" dirty="0"/>
          </a:p>
          <a:p>
            <a:pPr marL="342900" indent="-342900">
              <a:spcAft>
                <a:spcPts val="600"/>
              </a:spcAft>
              <a:buSzPct val="100000"/>
              <a:buChar char="•"/>
            </a:pPr>
            <a:r>
              <a:rPr lang="en-US" sz="1200" dirty="0">
                <a:solidFill>
                  <a:srgbClr val="1B2A22"/>
                </a:solidFill>
                <a:latin typeface="Calibri" pitchFamily="34" charset="0"/>
                <a:ea typeface="Calibri" pitchFamily="34" charset="-122"/>
                <a:cs typeface="Calibri" pitchFamily="34" charset="-120"/>
              </a:rPr>
              <a:t>Numeric verifier + dose guardrail</a:t>
            </a:r>
            <a:endParaRPr lang="en-US" sz="1200" dirty="0"/>
          </a:p>
        </p:txBody>
      </p:sp>
      <p:sp>
        <p:nvSpPr>
          <p:cNvPr id="12" name="lane delivery"/>
          <p:cNvSpPr/>
          <p:nvPr/>
        </p:nvSpPr>
        <p:spPr>
          <a:xfrm>
            <a:off x="9052560" y="1325880"/>
            <a:ext cx="2606040" cy="3794760"/>
          </a:xfrm>
          <a:prstGeom prst="roundRect">
            <a:avLst>
              <a:gd name="adj" fmla="val 4211"/>
            </a:avLst>
          </a:prstGeom>
          <a:solidFill>
            <a:srgbClr val="12372A"/>
          </a:solidFill>
          <a:ln w="12700">
            <a:solidFill>
              <a:srgbClr val="12372A"/>
            </a:solidFill>
            <a:prstDash val="solid"/>
          </a:ln>
        </p:spPr>
      </p:sp>
      <p:sp>
        <p:nvSpPr>
          <p:cNvPr id="13" name="Text 11"/>
          <p:cNvSpPr txBox="1"/>
          <p:nvPr/>
        </p:nvSpPr>
        <p:spPr>
          <a:xfrm>
            <a:off x="9235440" y="1463040"/>
            <a:ext cx="224028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 Delivery</a:t>
            </a:r>
            <a:endParaRPr lang="en-US" sz="1500" dirty="0"/>
          </a:p>
        </p:txBody>
      </p:sp>
      <p:sp>
        <p:nvSpPr>
          <p:cNvPr id="14" name="Text 12"/>
          <p:cNvSpPr txBox="1"/>
          <p:nvPr/>
        </p:nvSpPr>
        <p:spPr>
          <a:xfrm>
            <a:off x="9235440" y="1965960"/>
            <a:ext cx="2286000" cy="3063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3F0E8"/>
                </a:solidFill>
                <a:latin typeface="Calibri" pitchFamily="34" charset="0"/>
                <a:ea typeface="Calibri" pitchFamily="34" charset="-122"/>
                <a:cs typeface="Calibri" pitchFamily="34" charset="-120"/>
              </a:rPr>
              <a:t>FastAPI + Server-Sent Events (live trace)</a:t>
            </a:r>
            <a:endParaRPr lang="en-US" sz="1200" dirty="0"/>
          </a:p>
          <a:p>
            <a:pPr marL="342900" indent="-342900">
              <a:spcAft>
                <a:spcPts val="600"/>
              </a:spcAft>
              <a:buSzPct val="100000"/>
              <a:buChar char="•"/>
            </a:pPr>
            <a:r>
              <a:rPr lang="en-US" sz="1200" dirty="0">
                <a:solidFill>
                  <a:srgbClr val="E3F0E8"/>
                </a:solidFill>
                <a:latin typeface="Calibri" pitchFamily="34" charset="0"/>
                <a:ea typeface="Calibri" pitchFamily="34" charset="-122"/>
                <a:cs typeface="Calibri" pitchFamily="34" charset="-120"/>
              </a:rPr>
              <a:t>Leaflet + Chart.js web app</a:t>
            </a:r>
            <a:endParaRPr lang="en-US" sz="1200" dirty="0"/>
          </a:p>
          <a:p>
            <a:pPr marL="342900" indent="-342900">
              <a:spcAft>
                <a:spcPts val="600"/>
              </a:spcAft>
              <a:buSzPct val="100000"/>
              <a:buChar char="•"/>
            </a:pPr>
            <a:r>
              <a:rPr lang="en-US" sz="1200" dirty="0">
                <a:solidFill>
                  <a:srgbClr val="E3F0E8"/>
                </a:solidFill>
                <a:latin typeface="Calibri" pitchFamily="34" charset="0"/>
                <a:ea typeface="Calibri" pitchFamily="34" charset="-122"/>
                <a:cs typeface="Calibri" pitchFamily="34" charset="-120"/>
              </a:rPr>
              <a:t>Whisper STT · Sarvam / gTTS voice</a:t>
            </a:r>
            <a:endParaRPr lang="en-US" sz="1200" dirty="0"/>
          </a:p>
          <a:p>
            <a:pPr marL="342900" indent="-342900">
              <a:spcAft>
                <a:spcPts val="600"/>
              </a:spcAft>
              <a:buSzPct val="100000"/>
              <a:buChar char="•"/>
            </a:pPr>
            <a:r>
              <a:rPr lang="en-US" sz="1200" dirty="0">
                <a:solidFill>
                  <a:srgbClr val="E3F0E8"/>
                </a:solidFill>
                <a:latin typeface="Calibri" pitchFamily="34" charset="0"/>
                <a:ea typeface="Calibri" pitchFamily="34" charset="-122"/>
                <a:cs typeface="Calibri" pitchFamily="34" charset="-120"/>
              </a:rPr>
              <a:t>Daily monitor → alerts (Telegram-ready)</a:t>
            </a:r>
            <a:endParaRPr lang="en-US" sz="1200" dirty="0"/>
          </a:p>
          <a:p>
            <a:pPr marL="342900" indent="-342900">
              <a:spcAft>
                <a:spcPts val="600"/>
              </a:spcAft>
              <a:buSzPct val="100000"/>
              <a:buChar char="•"/>
            </a:pPr>
            <a:r>
              <a:rPr lang="en-US" sz="1200" dirty="0">
                <a:solidFill>
                  <a:srgbClr val="E3F0E8"/>
                </a:solidFill>
                <a:latin typeface="Calibri" pitchFamily="34" charset="0"/>
                <a:ea typeface="Calibri" pitchFamily="34" charset="-122"/>
                <a:cs typeface="Calibri" pitchFamily="34" charset="-120"/>
              </a:rPr>
              <a:t>Docker + Caddy HTTPS on Azure, Central India</a:t>
            </a:r>
            <a:endParaRPr lang="en-US" sz="1200" dirty="0"/>
          </a:p>
        </p:txBody>
      </p:sp>
      <p:pic>
        <p:nvPicPr>
          <p:cNvPr id="15" name="lane arrow 0" descr="preencoded.png">    </p:cNvPr>
          <p:cNvPicPr>
            <a:picLocks noChangeAspect="1"/>
          </p:cNvPicPr>
          <p:nvPr/>
        </p:nvPicPr>
        <p:blipFill>
          <a:blip r:embed="rId1"/>
          <a:stretch>
            <a:fillRect/>
          </a:stretch>
        </p:blipFill>
        <p:spPr>
          <a:xfrm>
            <a:off x="3154680" y="3291840"/>
            <a:ext cx="201168" cy="201168"/>
          </a:xfrm>
          <a:prstGeom prst="rect">
            <a:avLst/>
          </a:prstGeom>
        </p:spPr>
      </p:pic>
      <p:pic>
        <p:nvPicPr>
          <p:cNvPr id="16" name="lane arrow 1" descr="preencoded.png">    </p:cNvPr>
          <p:cNvPicPr>
            <a:picLocks noChangeAspect="1"/>
          </p:cNvPicPr>
          <p:nvPr/>
        </p:nvPicPr>
        <p:blipFill>
          <a:blip r:embed="rId2"/>
          <a:stretch>
            <a:fillRect/>
          </a:stretch>
        </p:blipFill>
        <p:spPr>
          <a:xfrm>
            <a:off x="5989320" y="3291840"/>
            <a:ext cx="201168" cy="201168"/>
          </a:xfrm>
          <a:prstGeom prst="rect">
            <a:avLst/>
          </a:prstGeom>
        </p:spPr>
      </p:pic>
      <p:pic>
        <p:nvPicPr>
          <p:cNvPr id="17" name="lane arrow 2" descr="preencoded.png">    </p:cNvPr>
          <p:cNvPicPr>
            <a:picLocks noChangeAspect="1"/>
          </p:cNvPicPr>
          <p:nvPr/>
        </p:nvPicPr>
        <p:blipFill>
          <a:blip r:embed="rId3"/>
          <a:stretch>
            <a:fillRect/>
          </a:stretch>
        </p:blipFill>
        <p:spPr>
          <a:xfrm>
            <a:off x="8823960" y="3291840"/>
            <a:ext cx="201168" cy="201168"/>
          </a:xfrm>
          <a:prstGeom prst="rect">
            <a:avLst/>
          </a:prstGeom>
        </p:spPr>
      </p:pic>
      <p:sp>
        <p:nvSpPr>
          <p:cNvPr id="18" name="Text 13"/>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250" b="1" dirty="0">
                <a:solidFill>
                  <a:srgbClr val="12372A"/>
                </a:solidFill>
                <a:latin typeface="Calibri" pitchFamily="34" charset="0"/>
                <a:ea typeface="Calibri" pitchFamily="34" charset="-122"/>
                <a:cs typeface="Calibri" pitchFamily="34" charset="-120"/>
              </a:rPr>
              <a:t>Why India hosting: </a:t>
            </a:r>
            <a:pPr indent="0" marL="0">
              <a:buNone/>
            </a:pPr>
            <a:r>
              <a:rPr lang="en-US" sz="1250" dirty="0">
                <a:solidFill>
                  <a:srgbClr val="1B2A22"/>
                </a:solidFill>
                <a:latin typeface="Calibri" pitchFamily="34" charset="0"/>
                <a:ea typeface="Calibri" pitchFamily="34" charset="-122"/>
                <a:cs typeface="Calibri" pitchFamily="34" charset="-120"/>
              </a:rPr>
              <a:t>data.gov.in refuses non-Indian servers and shared cloud IPs get rate-limited, so we moved from a US PaaS to an Indian VM and added fallbacks for every provider.</a:t>
            </a:r>
            <a:endParaRPr lang="en-US" sz="1250" dirty="0"/>
          </a:p>
        </p:txBody>
      </p:sp>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12372A"/>
                </a:solidFill>
                <a:latin typeface="Calibri" pitchFamily="34" charset="0"/>
                <a:ea typeface="Calibri" pitchFamily="34" charset="-122"/>
                <a:cs typeface="Calibri" pitchFamily="34" charset="-120"/>
              </a:rPr>
              <a:t>Measured, not claimed: reliability you can check</a:t>
            </a:r>
            <a:endParaRPr lang="en-US" sz="3200" dirty="0"/>
          </a:p>
        </p:txBody>
      </p:sp>
      <p:sp>
        <p:nvSpPr>
          <p:cNvPr id="3" name="proof stat 0"/>
          <p:cNvSpPr/>
          <p:nvPr/>
        </p:nvSpPr>
        <p:spPr>
          <a:xfrm>
            <a:off x="548640" y="1325880"/>
            <a:ext cx="2606040" cy="1234440"/>
          </a:xfrm>
          <a:prstGeom prst="roundRect">
            <a:avLst>
              <a:gd name="adj" fmla="val 8889"/>
            </a:avLst>
          </a:prstGeom>
          <a:solidFill>
            <a:srgbClr val="EAF4EE"/>
          </a:solidFill>
          <a:ln w="12700">
            <a:solidFill>
              <a:srgbClr val="EAF4EE"/>
            </a:solidFill>
            <a:prstDash val="solid"/>
          </a:ln>
        </p:spPr>
      </p:sp>
      <p:sp>
        <p:nvSpPr>
          <p:cNvPr id="4" name="Text 2"/>
          <p:cNvSpPr txBox="1"/>
          <p:nvPr/>
        </p:nvSpPr>
        <p:spPr>
          <a:xfrm>
            <a:off x="731520" y="1389888"/>
            <a:ext cx="2286000" cy="685800"/>
          </a:xfrm>
          <a:prstGeom prst="rect">
            <a:avLst/>
          </a:prstGeom>
          <a:noFill/>
          <a:ln/>
        </p:spPr>
        <p:txBody>
          <a:bodyPr wrap="square" lIns="0" tIns="0" rIns="0" bIns="0" rtlCol="0" anchor="ctr"/>
          <a:lstStyle/>
          <a:p>
            <a:pPr indent="0" marL="0">
              <a:buNone/>
            </a:pPr>
            <a:r>
              <a:rPr lang="en-US" sz="3400" b="1" dirty="0">
                <a:solidFill>
                  <a:srgbClr val="12372A"/>
                </a:solidFill>
                <a:latin typeface="Calibri" pitchFamily="34" charset="0"/>
                <a:ea typeface="Calibri" pitchFamily="34" charset="-122"/>
                <a:cs typeface="Calibri" pitchFamily="34" charset="-120"/>
              </a:rPr>
              <a:t>12/12</a:t>
            </a:r>
            <a:endParaRPr lang="en-US" sz="3400" dirty="0"/>
          </a:p>
        </p:txBody>
      </p:sp>
      <p:sp>
        <p:nvSpPr>
          <p:cNvPr id="5" name="Text 3"/>
          <p:cNvSpPr txBox="1"/>
          <p:nvPr/>
        </p:nvSpPr>
        <p:spPr>
          <a:xfrm>
            <a:off x="731520" y="2057400"/>
            <a:ext cx="2286000" cy="41148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agent eval scenarios passed</a:t>
            </a:r>
            <a:endParaRPr lang="en-US" sz="1200" dirty="0"/>
          </a:p>
        </p:txBody>
      </p:sp>
      <p:sp>
        <p:nvSpPr>
          <p:cNvPr id="6" name="proof stat 1"/>
          <p:cNvSpPr/>
          <p:nvPr/>
        </p:nvSpPr>
        <p:spPr>
          <a:xfrm>
            <a:off x="3364992" y="1325880"/>
            <a:ext cx="2606040" cy="1234440"/>
          </a:xfrm>
          <a:prstGeom prst="roundRect">
            <a:avLst>
              <a:gd name="adj" fmla="val 8889"/>
            </a:avLst>
          </a:prstGeom>
          <a:solidFill>
            <a:srgbClr val="EAF4EE"/>
          </a:solidFill>
          <a:ln w="12700">
            <a:solidFill>
              <a:srgbClr val="EAF4EE"/>
            </a:solidFill>
            <a:prstDash val="solid"/>
          </a:ln>
        </p:spPr>
      </p:sp>
      <p:sp>
        <p:nvSpPr>
          <p:cNvPr id="7" name="Text 5"/>
          <p:cNvSpPr txBox="1"/>
          <p:nvPr/>
        </p:nvSpPr>
        <p:spPr>
          <a:xfrm>
            <a:off x="3547872" y="1389888"/>
            <a:ext cx="2286000" cy="685800"/>
          </a:xfrm>
          <a:prstGeom prst="rect">
            <a:avLst/>
          </a:prstGeom>
          <a:noFill/>
          <a:ln/>
        </p:spPr>
        <p:txBody>
          <a:bodyPr wrap="square" lIns="0" tIns="0" rIns="0" bIns="0" rtlCol="0" anchor="ctr"/>
          <a:lstStyle/>
          <a:p>
            <a:pPr indent="0" marL="0">
              <a:buNone/>
            </a:pPr>
            <a:r>
              <a:rPr lang="en-US" sz="3400" b="1" dirty="0">
                <a:solidFill>
                  <a:srgbClr val="3FA06B"/>
                </a:solidFill>
                <a:latin typeface="Calibri" pitchFamily="34" charset="0"/>
                <a:ea typeface="Calibri" pitchFamily="34" charset="-122"/>
                <a:cs typeface="Calibri" pitchFamily="34" charset="-120"/>
              </a:rPr>
              <a:t>100%</a:t>
            </a:r>
            <a:endParaRPr lang="en-US" sz="3400" dirty="0"/>
          </a:p>
        </p:txBody>
      </p:sp>
      <p:sp>
        <p:nvSpPr>
          <p:cNvPr id="8" name="Text 6"/>
          <p:cNvSpPr txBox="1"/>
          <p:nvPr/>
        </p:nvSpPr>
        <p:spPr>
          <a:xfrm>
            <a:off x="3547872" y="2057400"/>
            <a:ext cx="2286000" cy="41148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answers fully fact-checked (12/12)</a:t>
            </a:r>
            <a:endParaRPr lang="en-US" sz="1200" dirty="0"/>
          </a:p>
        </p:txBody>
      </p:sp>
      <p:sp>
        <p:nvSpPr>
          <p:cNvPr id="9" name="proof stat 2"/>
          <p:cNvSpPr/>
          <p:nvPr/>
        </p:nvSpPr>
        <p:spPr>
          <a:xfrm>
            <a:off x="6181344" y="1325880"/>
            <a:ext cx="2606040" cy="1234440"/>
          </a:xfrm>
          <a:prstGeom prst="roundRect">
            <a:avLst>
              <a:gd name="adj" fmla="val 8889"/>
            </a:avLst>
          </a:prstGeom>
          <a:solidFill>
            <a:srgbClr val="EAF4EE"/>
          </a:solidFill>
          <a:ln w="12700">
            <a:solidFill>
              <a:srgbClr val="EAF4EE"/>
            </a:solidFill>
            <a:prstDash val="solid"/>
          </a:ln>
        </p:spPr>
      </p:sp>
      <p:sp>
        <p:nvSpPr>
          <p:cNvPr id="10" name="Text 8"/>
          <p:cNvSpPr txBox="1"/>
          <p:nvPr/>
        </p:nvSpPr>
        <p:spPr>
          <a:xfrm>
            <a:off x="6364224" y="1389888"/>
            <a:ext cx="2286000" cy="685800"/>
          </a:xfrm>
          <a:prstGeom prst="rect">
            <a:avLst/>
          </a:prstGeom>
          <a:noFill/>
          <a:ln/>
        </p:spPr>
        <p:txBody>
          <a:bodyPr wrap="square" lIns="0" tIns="0" rIns="0" bIns="0" rtlCol="0" anchor="ctr"/>
          <a:lstStyle/>
          <a:p>
            <a:pPr indent="0" marL="0">
              <a:buNone/>
            </a:pPr>
            <a:r>
              <a:rPr lang="en-US" sz="3400" b="1" dirty="0">
                <a:solidFill>
                  <a:srgbClr val="12372A"/>
                </a:solidFill>
                <a:latin typeface="Calibri" pitchFamily="34" charset="0"/>
                <a:ea typeface="Calibri" pitchFamily="34" charset="-122"/>
                <a:cs typeface="Calibri" pitchFamily="34" charset="-120"/>
              </a:rPr>
              <a:t>3.9 s</a:t>
            </a:r>
            <a:endParaRPr lang="en-US" sz="3400" dirty="0"/>
          </a:p>
        </p:txBody>
      </p:sp>
      <p:sp>
        <p:nvSpPr>
          <p:cNvPr id="11" name="Text 9"/>
          <p:cNvSpPr txBox="1"/>
          <p:nvPr/>
        </p:nvSpPr>
        <p:spPr>
          <a:xfrm>
            <a:off x="6364224" y="2057400"/>
            <a:ext cx="2286000" cy="41148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median answer time</a:t>
            </a:r>
            <a:endParaRPr lang="en-US" sz="1200" dirty="0"/>
          </a:p>
        </p:txBody>
      </p:sp>
      <p:sp>
        <p:nvSpPr>
          <p:cNvPr id="12" name="proof stat 3"/>
          <p:cNvSpPr/>
          <p:nvPr/>
        </p:nvSpPr>
        <p:spPr>
          <a:xfrm>
            <a:off x="8997696" y="1325880"/>
            <a:ext cx="2606040" cy="1234440"/>
          </a:xfrm>
          <a:prstGeom prst="roundRect">
            <a:avLst>
              <a:gd name="adj" fmla="val 8889"/>
            </a:avLst>
          </a:prstGeom>
          <a:solidFill>
            <a:srgbClr val="EAF4EE"/>
          </a:solidFill>
          <a:ln w="12700">
            <a:solidFill>
              <a:srgbClr val="EAF4EE"/>
            </a:solidFill>
            <a:prstDash val="solid"/>
          </a:ln>
        </p:spPr>
      </p:sp>
      <p:sp>
        <p:nvSpPr>
          <p:cNvPr id="13" name="Text 11"/>
          <p:cNvSpPr txBox="1"/>
          <p:nvPr/>
        </p:nvSpPr>
        <p:spPr>
          <a:xfrm>
            <a:off x="9180576" y="1389888"/>
            <a:ext cx="2286000" cy="685800"/>
          </a:xfrm>
          <a:prstGeom prst="rect">
            <a:avLst/>
          </a:prstGeom>
          <a:noFill/>
          <a:ln/>
        </p:spPr>
        <p:txBody>
          <a:bodyPr wrap="square" lIns="0" tIns="0" rIns="0" bIns="0" rtlCol="0" anchor="ctr"/>
          <a:lstStyle/>
          <a:p>
            <a:pPr indent="0" marL="0">
              <a:buNone/>
            </a:pPr>
            <a:r>
              <a:rPr lang="en-US" sz="3400" b="1" dirty="0">
                <a:solidFill>
                  <a:srgbClr val="12372A"/>
                </a:solidFill>
                <a:latin typeface="Calibri" pitchFamily="34" charset="0"/>
                <a:ea typeface="Calibri" pitchFamily="34" charset="-122"/>
                <a:cs typeface="Calibri" pitchFamily="34" charset="-120"/>
              </a:rPr>
              <a:t>69</a:t>
            </a:r>
            <a:endParaRPr lang="en-US" sz="3400" dirty="0"/>
          </a:p>
        </p:txBody>
      </p:sp>
      <p:sp>
        <p:nvSpPr>
          <p:cNvPr id="14" name="Text 12"/>
          <p:cNvSpPr txBox="1"/>
          <p:nvPr/>
        </p:nvSpPr>
        <p:spPr>
          <a:xfrm>
            <a:off x="9180576" y="2057400"/>
            <a:ext cx="2286000" cy="41148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automated tests incl. fault injection</a:t>
            </a:r>
            <a:endParaRPr lang="en-US" sz="1200" dirty="0"/>
          </a:p>
        </p:txBody>
      </p:sp>
      <p:graphicFrame>
        <p:nvGraphicFramePr>
          <p:cNvPr id="15" name="Eval latency chart" descr=""/>
          <p:cNvGraphicFramePr/>
          <p:nvPr/>
        </p:nvGraphicFramePr>
        <p:xfrm>
          <a:off x="548640" y="2743200"/>
          <a:ext cx="6583680" cy="3520440"/>
        </p:xfrm>
        <a:graphic xmlns:a="http://schemas.openxmlformats.org/drawingml/2006/main">
          <a:graphicData uri="http://schemas.openxmlformats.org/drawingml/2006/chart">
            <c:chart xmlns:c="http://schemas.openxmlformats.org/drawingml/2006/chart" r:id="rId1"/>
          </a:graphicData>
        </a:graphic>
      </p:graphicFrame>
      <p:sp>
        <p:nvSpPr>
          <p:cNvPr id="16" name="Resilience Lab: simulated Open-Meteo outage frame"/>
          <p:cNvSpPr/>
          <p:nvPr/>
        </p:nvSpPr>
        <p:spPr>
          <a:xfrm>
            <a:off x="7351776" y="2825496"/>
            <a:ext cx="4315968" cy="2110556"/>
          </a:xfrm>
          <a:prstGeom prst="roundRect">
            <a:avLst>
              <a:gd name="adj" fmla="val 3466"/>
            </a:avLst>
          </a:prstGeom>
          <a:solidFill>
            <a:srgbClr val="FFFFFF"/>
          </a:solidFill>
          <a:ln w="12700">
            <a:solidFill>
              <a:srgbClr val="D5E3DA"/>
            </a:solidFill>
            <a:prstDash val="solid"/>
          </a:ln>
          <a:effectLst>
            <a:outerShdw sx="100000" sy="100000" kx="0" ky="0" algn="bl" rotWithShape="0" blurRad="101600" dist="38100" dir="5400000">
              <a:srgbClr val="000000">
                <a:alpha val="18000"/>
              </a:srgbClr>
            </a:outerShdw>
          </a:effectLst>
        </p:spPr>
      </p:sp>
      <p:pic>
        <p:nvPicPr>
          <p:cNvPr id="17" name="Resilience Lab: simulated Open-Meteo outage" descr="preencoded.png">    </p:cNvPr>
          <p:cNvPicPr>
            <a:picLocks noChangeAspect="1"/>
          </p:cNvPicPr>
          <p:nvPr/>
        </p:nvPicPr>
        <p:blipFill>
          <a:blip r:embed="rId2"/>
          <a:stretch>
            <a:fillRect/>
          </a:stretch>
        </p:blipFill>
        <p:spPr>
          <a:xfrm>
            <a:off x="7406640" y="2880360"/>
            <a:ext cx="4206240" cy="2000828"/>
          </a:xfrm>
          <a:prstGeom prst="rect">
            <a:avLst/>
          </a:prstGeom>
        </p:spPr>
      </p:pic>
      <p:sp>
        <p:nvSpPr>
          <p:cNvPr id="18" name="Text 14"/>
          <p:cNvSpPr txBox="1"/>
          <p:nvPr/>
        </p:nvSpPr>
        <p:spPr>
          <a:xfrm>
            <a:off x="7406640" y="5018348"/>
            <a:ext cx="4206240" cy="685800"/>
          </a:xfrm>
          <a:prstGeom prst="rect">
            <a:avLst/>
          </a:prstGeom>
          <a:noFill/>
          <a:ln/>
        </p:spPr>
        <p:txBody>
          <a:bodyPr wrap="square" lIns="0" tIns="0" rIns="0" bIns="0" rtlCol="0" anchor="ctr"/>
          <a:lstStyle/>
          <a:p>
            <a:pPr indent="0" marL="0">
              <a:buNone/>
            </a:pPr>
            <a:r>
              <a:rPr lang="en-US" sz="1150" b="1" dirty="0">
                <a:solidFill>
                  <a:srgbClr val="12372A"/>
                </a:solidFill>
                <a:latin typeface="Calibri" pitchFamily="34" charset="0"/>
                <a:ea typeface="Calibri" pitchFamily="34" charset="-122"/>
                <a:cs typeface="Calibri" pitchFamily="34" charset="-120"/>
              </a:rPr>
              <a:t>Resilience Lab, live: </a:t>
            </a:r>
            <a:pPr indent="0" marL="0">
              <a:buNone/>
            </a:pPr>
            <a:r>
              <a:rPr lang="en-US" sz="1150" dirty="0">
                <a:solidFill>
                  <a:srgbClr val="5B6B62"/>
                </a:solidFill>
                <a:latin typeface="Calibri" pitchFamily="34" charset="0"/>
                <a:ea typeface="Calibri" pitchFamily="34" charset="-122"/>
                <a:cs typeface="Calibri" pitchFamily="34" charset="-120"/>
              </a:rPr>
              <a:t>switch off a provider and watch the fallback (here Open-Meteo → MET Norway + NASA POWER, with an amber banner).</a:t>
            </a:r>
            <a:endParaRPr lang="en-US" sz="1150" dirty="0"/>
          </a:p>
        </p:txBody>
      </p:sp>
      <p:sp>
        <p:nvSpPr>
          <p:cNvPr id="25" name="Slide Number Placeholder 0"/>
          <p:cNvSpPr>
            <a:spLocks noGrp="1"/>
          </p:cNvSpPr>
          <p:nvPr>
            <p:ph type="sldNum" sz="quarter" idx="4294967295"/>
          </p:nvPr>
        </p:nvSpPr>
        <p:spPr>
          <a:xfrm>
            <a:off x="1129284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From one field to every KVK</a:t>
            </a:r>
            <a:endParaRPr lang="en-US" sz="3200" dirty="0"/>
          </a:p>
        </p:txBody>
      </p:sp>
      <p:sp>
        <p:nvSpPr>
          <p:cNvPr id="3" name="impact 0 circle"/>
          <p:cNvSpPr/>
          <p:nvPr/>
        </p:nvSpPr>
        <p:spPr>
          <a:xfrm>
            <a:off x="548640" y="1371600"/>
            <a:ext cx="640080" cy="640080"/>
          </a:xfrm>
          <a:prstGeom prst="ellipse">
            <a:avLst/>
          </a:prstGeom>
          <a:solidFill>
            <a:srgbClr val="1E6B48"/>
          </a:solidFill>
          <a:ln w="12700">
            <a:solidFill>
              <a:srgbClr val="1E6B48"/>
            </a:solidFill>
            <a:prstDash val="solid"/>
          </a:ln>
        </p:spPr>
      </p:sp>
      <p:pic>
        <p:nvPicPr>
          <p:cNvPr id="4" name="impact 0 icon" descr="preencoded.png">    </p:cNvPr>
          <p:cNvPicPr>
            <a:picLocks noChangeAspect="1"/>
          </p:cNvPicPr>
          <p:nvPr/>
        </p:nvPicPr>
        <p:blipFill>
          <a:blip r:embed="rId1"/>
          <a:stretch>
            <a:fillRect/>
          </a:stretch>
        </p:blipFill>
        <p:spPr>
          <a:xfrm>
            <a:off x="708660" y="1531620"/>
            <a:ext cx="320040" cy="320040"/>
          </a:xfrm>
          <a:prstGeom prst="rect">
            <a:avLst/>
          </a:prstGeom>
        </p:spPr>
      </p:pic>
      <p:sp>
        <p:nvSpPr>
          <p:cNvPr id="5" name="Text 2"/>
          <p:cNvSpPr txBox="1"/>
          <p:nvPr/>
        </p:nvSpPr>
        <p:spPr>
          <a:xfrm>
            <a:off x="1371600" y="1353312"/>
            <a:ext cx="402336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One KVK worker, hundreds of plots</a:t>
            </a:r>
            <a:endParaRPr lang="en-US" sz="1600" dirty="0"/>
          </a:p>
          <a:p>
            <a:pPr indent="0" marL="0">
              <a:buNone/>
            </a:pPr>
            <a:r>
              <a:rPr lang="en-US" sz="1250" dirty="0">
                <a:solidFill>
                  <a:srgbClr val="C9DFD1"/>
                </a:solidFill>
                <a:latin typeface="Calibri" pitchFamily="34" charset="0"/>
                <a:ea typeface="Calibri" pitchFamily="34" charset="-122"/>
                <a:cs typeface="Calibri" pitchFamily="34" charset="-120"/>
              </a:rPr>
              <a:t>Alerts only where action is needed</a:t>
            </a:r>
            <a:endParaRPr lang="en-US" sz="1600" dirty="0"/>
          </a:p>
        </p:txBody>
      </p:sp>
      <p:sp>
        <p:nvSpPr>
          <p:cNvPr id="6" name="impact 1 circle"/>
          <p:cNvSpPr/>
          <p:nvPr/>
        </p:nvSpPr>
        <p:spPr>
          <a:xfrm>
            <a:off x="548640" y="2423160"/>
            <a:ext cx="640080" cy="640080"/>
          </a:xfrm>
          <a:prstGeom prst="ellipse">
            <a:avLst/>
          </a:prstGeom>
          <a:solidFill>
            <a:srgbClr val="1E6B48"/>
          </a:solidFill>
          <a:ln w="12700">
            <a:solidFill>
              <a:srgbClr val="1E6B48"/>
            </a:solidFill>
            <a:prstDash val="solid"/>
          </a:ln>
        </p:spPr>
      </p:sp>
      <p:pic>
        <p:nvPicPr>
          <p:cNvPr id="7" name="impact 1 icon" descr="preencoded.png">    </p:cNvPr>
          <p:cNvPicPr>
            <a:picLocks noChangeAspect="1"/>
          </p:cNvPicPr>
          <p:nvPr/>
        </p:nvPicPr>
        <p:blipFill>
          <a:blip r:embed="rId2"/>
          <a:stretch>
            <a:fillRect/>
          </a:stretch>
        </p:blipFill>
        <p:spPr>
          <a:xfrm>
            <a:off x="708660" y="2583180"/>
            <a:ext cx="320040" cy="320040"/>
          </a:xfrm>
          <a:prstGeom prst="rect">
            <a:avLst/>
          </a:prstGeom>
        </p:spPr>
      </p:pic>
      <p:sp>
        <p:nvSpPr>
          <p:cNvPr id="8" name="Text 4"/>
          <p:cNvSpPr txBox="1"/>
          <p:nvPr/>
        </p:nvSpPr>
        <p:spPr>
          <a:xfrm>
            <a:off x="1371600" y="2404872"/>
            <a:ext cx="402336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Near-zero cost per extra plot</a:t>
            </a:r>
            <a:endParaRPr lang="en-US" sz="1600" dirty="0"/>
          </a:p>
          <a:p>
            <a:pPr indent="0" marL="0">
              <a:buNone/>
            </a:pPr>
            <a:r>
              <a:rPr lang="en-US" sz="1250" dirty="0">
                <a:solidFill>
                  <a:srgbClr val="C9DFD1"/>
                </a:solidFill>
                <a:latin typeface="Calibri" pitchFamily="34" charset="0"/>
                <a:ea typeface="Calibri" pitchFamily="34" charset="-122"/>
                <a:cs typeface="Calibri" pitchFamily="34" charset="-120"/>
              </a:rPr>
              <a:t>Every data source is free and national-scale</a:t>
            </a:r>
            <a:endParaRPr lang="en-US" sz="1600" dirty="0"/>
          </a:p>
        </p:txBody>
      </p:sp>
      <p:sp>
        <p:nvSpPr>
          <p:cNvPr id="9" name="impact 2 circle"/>
          <p:cNvSpPr/>
          <p:nvPr/>
        </p:nvSpPr>
        <p:spPr>
          <a:xfrm>
            <a:off x="548640" y="3474720"/>
            <a:ext cx="640080" cy="640080"/>
          </a:xfrm>
          <a:prstGeom prst="ellipse">
            <a:avLst/>
          </a:prstGeom>
          <a:solidFill>
            <a:srgbClr val="1E6B48"/>
          </a:solidFill>
          <a:ln w="12700">
            <a:solidFill>
              <a:srgbClr val="1E6B48"/>
            </a:solidFill>
            <a:prstDash val="solid"/>
          </a:ln>
        </p:spPr>
      </p:sp>
      <p:pic>
        <p:nvPicPr>
          <p:cNvPr id="10" name="impact 2 icon" descr="preencoded.png">    </p:cNvPr>
          <p:cNvPicPr>
            <a:picLocks noChangeAspect="1"/>
          </p:cNvPicPr>
          <p:nvPr/>
        </p:nvPicPr>
        <p:blipFill>
          <a:blip r:embed="rId3"/>
          <a:stretch>
            <a:fillRect/>
          </a:stretch>
        </p:blipFill>
        <p:spPr>
          <a:xfrm>
            <a:off x="708660" y="3634740"/>
            <a:ext cx="320040" cy="320040"/>
          </a:xfrm>
          <a:prstGeom prst="rect">
            <a:avLst/>
          </a:prstGeom>
        </p:spPr>
      </p:pic>
      <p:sp>
        <p:nvSpPr>
          <p:cNvPr id="11" name="Text 6"/>
          <p:cNvSpPr txBox="1"/>
          <p:nvPr/>
        </p:nvSpPr>
        <p:spPr>
          <a:xfrm>
            <a:off x="1371600" y="3456432"/>
            <a:ext cx="402336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Built for India</a:t>
            </a:r>
            <a:endParaRPr lang="en-US" sz="1600" dirty="0"/>
          </a:p>
          <a:p>
            <a:pPr indent="0" marL="0">
              <a:buNone/>
            </a:pPr>
            <a:r>
              <a:rPr lang="en-US" sz="1250" dirty="0">
                <a:solidFill>
                  <a:srgbClr val="C9DFD1"/>
                </a:solidFill>
                <a:latin typeface="Calibri" pitchFamily="34" charset="0"/>
                <a:ea typeface="Calibri" pitchFamily="34" charset="-122"/>
                <a:cs typeface="Calibri" pitchFamily="34" charset="-120"/>
              </a:rPr>
              <a:t>14 crops, 10 languages, IMD + FAO-56 science</a:t>
            </a:r>
            <a:endParaRPr lang="en-US" sz="1600" dirty="0"/>
          </a:p>
        </p:txBody>
      </p:sp>
      <p:sp>
        <p:nvSpPr>
          <p:cNvPr id="12" name="roadmap 0"/>
          <p:cNvSpPr/>
          <p:nvPr/>
        </p:nvSpPr>
        <p:spPr>
          <a:xfrm>
            <a:off x="5806440" y="1371600"/>
            <a:ext cx="1783080" cy="2743200"/>
          </a:xfrm>
          <a:prstGeom prst="roundRect">
            <a:avLst>
              <a:gd name="adj" fmla="val 5128"/>
            </a:avLst>
          </a:prstGeom>
          <a:solidFill>
            <a:srgbClr val="1D4D3A"/>
          </a:solidFill>
          <a:ln w="19050">
            <a:solidFill>
              <a:srgbClr val="3FA06B"/>
            </a:solidFill>
            <a:prstDash val="solid"/>
          </a:ln>
        </p:spPr>
      </p:sp>
      <p:sp>
        <p:nvSpPr>
          <p:cNvPr id="13" name="Text 8"/>
          <p:cNvSpPr txBox="1"/>
          <p:nvPr/>
        </p:nvSpPr>
        <p:spPr>
          <a:xfrm>
            <a:off x="5943600" y="1481328"/>
            <a:ext cx="1508760" cy="365760"/>
          </a:xfrm>
          <a:prstGeom prst="rect">
            <a:avLst/>
          </a:prstGeom>
          <a:noFill/>
          <a:ln/>
        </p:spPr>
        <p:txBody>
          <a:bodyPr wrap="square" lIns="0" tIns="0" rIns="0" bIns="0" rtlCol="0" anchor="ctr"/>
          <a:lstStyle/>
          <a:p>
            <a:pPr indent="0" marL="0">
              <a:buNone/>
            </a:pPr>
            <a:r>
              <a:rPr lang="en-US" sz="1300" b="1" dirty="0">
                <a:solidFill>
                  <a:srgbClr val="3FA06B"/>
                </a:solidFill>
                <a:latin typeface="Calibri" pitchFamily="34" charset="0"/>
                <a:ea typeface="Calibri" pitchFamily="34" charset="-122"/>
                <a:cs typeface="Calibri" pitchFamily="34" charset="-120"/>
              </a:rPr>
              <a:t>NOW · live</a:t>
            </a:r>
            <a:endParaRPr lang="en-US" sz="1300" dirty="0"/>
          </a:p>
        </p:txBody>
      </p:sp>
      <p:sp>
        <p:nvSpPr>
          <p:cNvPr id="14" name="Text 9"/>
          <p:cNvSpPr txBox="1"/>
          <p:nvPr/>
        </p:nvSpPr>
        <p:spPr>
          <a:xfrm>
            <a:off x="5916168" y="1874520"/>
            <a:ext cx="1572768"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Web + voice agent</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14 crops, 10 languages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Daily monitor + alerts</a:t>
            </a:r>
            <a:endParaRPr lang="en-US" sz="1150" dirty="0"/>
          </a:p>
        </p:txBody>
      </p:sp>
      <p:sp>
        <p:nvSpPr>
          <p:cNvPr id="15" name="roadmap 1"/>
          <p:cNvSpPr/>
          <p:nvPr/>
        </p:nvSpPr>
        <p:spPr>
          <a:xfrm>
            <a:off x="7772400" y="1371600"/>
            <a:ext cx="1783080" cy="2743200"/>
          </a:xfrm>
          <a:prstGeom prst="roundRect">
            <a:avLst>
              <a:gd name="adj" fmla="val 5128"/>
            </a:avLst>
          </a:prstGeom>
          <a:solidFill>
            <a:srgbClr val="1D4D3A"/>
          </a:solidFill>
          <a:ln w="19050">
            <a:solidFill>
              <a:srgbClr val="E8962E"/>
            </a:solidFill>
            <a:prstDash val="solid"/>
          </a:ln>
        </p:spPr>
      </p:sp>
      <p:sp>
        <p:nvSpPr>
          <p:cNvPr id="16" name="Text 11"/>
          <p:cNvSpPr txBox="1"/>
          <p:nvPr/>
        </p:nvSpPr>
        <p:spPr>
          <a:xfrm>
            <a:off x="7909560" y="1481328"/>
            <a:ext cx="1508760" cy="365760"/>
          </a:xfrm>
          <a:prstGeom prst="rect">
            <a:avLst/>
          </a:prstGeom>
          <a:noFill/>
          <a:ln/>
        </p:spPr>
        <p:txBody>
          <a:bodyPr wrap="square" lIns="0" tIns="0" rIns="0" bIns="0" rtlCol="0" anchor="ctr"/>
          <a:lstStyle/>
          <a:p>
            <a:pPr indent="0" marL="0">
              <a:buNone/>
            </a:pPr>
            <a:r>
              <a:rPr lang="en-US" sz="1300" b="1" dirty="0">
                <a:solidFill>
                  <a:srgbClr val="E8962E"/>
                </a:solidFill>
                <a:latin typeface="Calibri" pitchFamily="34" charset="0"/>
                <a:ea typeface="Calibri" pitchFamily="34" charset="-122"/>
                <a:cs typeface="Calibri" pitchFamily="34" charset="-120"/>
              </a:rPr>
              <a:t>NEXT</a:t>
            </a:r>
            <a:endParaRPr lang="en-US" sz="1300" dirty="0"/>
          </a:p>
        </p:txBody>
      </p:sp>
      <p:sp>
        <p:nvSpPr>
          <p:cNvPr id="17" name="Text 12"/>
          <p:cNvSpPr txBox="1"/>
          <p:nvPr/>
        </p:nvSpPr>
        <p:spPr>
          <a:xfrm>
            <a:off x="7882128" y="1874520"/>
            <a:ext cx="1572768"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WhatsApp + IVR calls for feature phones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Draw exact field boundaries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Sentinel-1 radar for cloudy monsoon weeks</a:t>
            </a:r>
            <a:endParaRPr lang="en-US" sz="1150" dirty="0"/>
          </a:p>
        </p:txBody>
      </p:sp>
      <p:sp>
        <p:nvSpPr>
          <p:cNvPr id="18" name="roadmap 2"/>
          <p:cNvSpPr/>
          <p:nvPr/>
        </p:nvSpPr>
        <p:spPr>
          <a:xfrm>
            <a:off x="9738360" y="1371600"/>
            <a:ext cx="1783080" cy="2743200"/>
          </a:xfrm>
          <a:prstGeom prst="roundRect">
            <a:avLst>
              <a:gd name="adj" fmla="val 5128"/>
            </a:avLst>
          </a:prstGeom>
          <a:solidFill>
            <a:srgbClr val="1D4D3A"/>
          </a:solidFill>
          <a:ln w="19050">
            <a:solidFill>
              <a:srgbClr val="8FB9A4"/>
            </a:solidFill>
            <a:prstDash val="solid"/>
          </a:ln>
        </p:spPr>
      </p:sp>
      <p:sp>
        <p:nvSpPr>
          <p:cNvPr id="19" name="Text 14"/>
          <p:cNvSpPr txBox="1"/>
          <p:nvPr/>
        </p:nvSpPr>
        <p:spPr>
          <a:xfrm>
            <a:off x="9875520" y="1481328"/>
            <a:ext cx="1508760" cy="365760"/>
          </a:xfrm>
          <a:prstGeom prst="rect">
            <a:avLst/>
          </a:prstGeom>
          <a:noFill/>
          <a:ln/>
        </p:spPr>
        <p:txBody>
          <a:bodyPr wrap="square" lIns="0" tIns="0" rIns="0" bIns="0" rtlCol="0" anchor="ctr"/>
          <a:lstStyle/>
          <a:p>
            <a:pPr indent="0" marL="0">
              <a:buNone/>
            </a:pPr>
            <a:r>
              <a:rPr lang="en-US" sz="1300" b="1" dirty="0">
                <a:solidFill>
                  <a:srgbClr val="8FB9A4"/>
                </a:solidFill>
                <a:latin typeface="Calibri" pitchFamily="34" charset="0"/>
                <a:ea typeface="Calibri" pitchFamily="34" charset="-122"/>
                <a:cs typeface="Calibri" pitchFamily="34" charset="-120"/>
              </a:rPr>
              <a:t>LATER</a:t>
            </a:r>
            <a:endParaRPr lang="en-US" sz="1300" dirty="0"/>
          </a:p>
        </p:txBody>
      </p:sp>
      <p:sp>
        <p:nvSpPr>
          <p:cNvPr id="20" name="Text 15"/>
          <p:cNvSpPr txBox="1"/>
          <p:nvPr/>
        </p:nvSpPr>
        <p:spPr>
          <a:xfrm>
            <a:off x="9848088" y="1874520"/>
            <a:ext cx="1572768"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Pest &amp; disease models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FPO / district dashboards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Crop-insurance (PMFBY) triggers</a:t>
            </a:r>
            <a:endParaRPr lang="en-US" sz="1150" dirty="0"/>
          </a:p>
        </p:txBody>
      </p:sp>
      <p:sp>
        <p:nvSpPr>
          <p:cNvPr id="21" name="demo summary card"/>
          <p:cNvSpPr/>
          <p:nvPr/>
        </p:nvSpPr>
        <p:spPr>
          <a:xfrm>
            <a:off x="548640" y="4709160"/>
            <a:ext cx="11064240" cy="1417320"/>
          </a:xfrm>
          <a:prstGeom prst="roundRect">
            <a:avLst>
              <a:gd name="adj" fmla="val 7742"/>
            </a:avLst>
          </a:prstGeom>
          <a:solidFill>
            <a:srgbClr val="FFFFFF"/>
          </a:solidFill>
          <a:ln w="12700">
            <a:solidFill>
              <a:srgbClr val="FFFFFF"/>
            </a:solidFill>
            <a:prstDash val="solid"/>
          </a:ln>
        </p:spPr>
      </p:sp>
      <p:sp>
        <p:nvSpPr>
          <p:cNvPr id="22" name="Text 17"/>
          <p:cNvSpPr txBox="1"/>
          <p:nvPr/>
        </p:nvSpPr>
        <p:spPr>
          <a:xfrm>
            <a:off x="777240" y="4818888"/>
            <a:ext cx="3657600" cy="365760"/>
          </a:xfrm>
          <a:prstGeom prst="rect">
            <a:avLst/>
          </a:prstGeom>
          <a:noFill/>
          <a:ln/>
        </p:spPr>
        <p:txBody>
          <a:bodyPr wrap="square" lIns="0" tIns="0" rIns="0" bIns="0" rtlCol="0" anchor="ctr"/>
          <a:lstStyle/>
          <a:p>
            <a:pPr indent="0" marL="0">
              <a:buNone/>
            </a:pPr>
            <a:r>
              <a:rPr lang="en-US" sz="1500" b="1" dirty="0">
                <a:solidFill>
                  <a:srgbClr val="12372A"/>
                </a:solidFill>
                <a:latin typeface="Calibri" pitchFamily="34" charset="0"/>
                <a:ea typeface="Calibri" pitchFamily="34" charset="-122"/>
                <a:cs typeface="Calibri" pitchFamily="34" charset="-120"/>
              </a:rPr>
              <a:t>Demo summary</a:t>
            </a:r>
            <a:endParaRPr lang="en-US" sz="1500" dirty="0"/>
          </a:p>
        </p:txBody>
      </p:sp>
      <p:sp>
        <p:nvSpPr>
          <p:cNvPr id="23" name="Text 18"/>
          <p:cNvSpPr txBox="1"/>
          <p:nvPr/>
        </p:nvSpPr>
        <p:spPr>
          <a:xfrm>
            <a:off x="777240" y="5166360"/>
            <a:ext cx="10607040" cy="594360"/>
          </a:xfrm>
          <a:prstGeom prst="rect">
            <a:avLst/>
          </a:prstGeom>
          <a:noFill/>
          <a:ln/>
        </p:spPr>
        <p:txBody>
          <a:bodyPr wrap="square" lIns="0" tIns="0" rIns="0" bIns="0" rtlCol="0" anchor="ctr"/>
          <a:lstStyle/>
          <a:p>
            <a:pPr indent="0" marL="0">
              <a:buNone/>
            </a:pPr>
            <a:r>
              <a:rPr lang="en-US" sz="1250" dirty="0">
                <a:solidFill>
                  <a:srgbClr val="1B2A22"/>
                </a:solidFill>
                <a:latin typeface="Calibri" pitchFamily="34" charset="0"/>
                <a:ea typeface="Calibri" pitchFamily="34" charset="-122"/>
                <a:cs typeface="Calibri" pitchFamily="34" charset="-120"/>
              </a:rPr>
              <a:t>Pin a real field → live satellite, weather, soil and mandi report → Hindi voice question → agent plans, calls tools, fact-checks, answers aloud → guardrails refuse invented doses and injected prices → Resilience Lab knocks out a provider live → daily monitor raises alerts.</a:t>
            </a:r>
            <a:endParaRPr lang="en-US" sz="1250" dirty="0"/>
          </a:p>
        </p:txBody>
      </p:sp>
      <p:sp>
        <p:nvSpPr>
          <p:cNvPr id="24" name="Text 19"/>
          <p:cNvSpPr txBox="1"/>
          <p:nvPr/>
        </p:nvSpPr>
        <p:spPr>
          <a:xfrm>
            <a:off x="777240" y="5779008"/>
            <a:ext cx="10607040" cy="274320"/>
          </a:xfrm>
          <a:prstGeom prst="rect">
            <a:avLst/>
          </a:prstGeom>
          <a:noFill/>
          <a:ln/>
        </p:spPr>
        <p:txBody>
          <a:bodyPr wrap="square" lIns="0" tIns="0" rIns="0" bIns="0" rtlCol="0" anchor="ctr"/>
          <a:lstStyle/>
          <a:p>
            <a:pPr indent="0" marL="0">
              <a:buNone/>
            </a:pPr>
            <a:r>
              <a:rPr lang="en-US" sz="1200" b="1" dirty="0">
                <a:solidFill>
                  <a:srgbClr val="1E6B48"/>
                </a:solidFill>
                <a:latin typeface="Calibri" pitchFamily="34" charset="0"/>
                <a:ea typeface="Calibri" pitchFamily="34" charset="-122"/>
                <a:cs typeface="Calibri" pitchFamily="34" charset="-120"/>
              </a:rPr>
              <a:t>Live: </a:t>
            </a:r>
            <a:pPr indent="0" marL="0">
              <a:buNone/>
            </a:pPr>
            <a:r>
              <a:rPr lang="en-US" sz="1200" u="sng" dirty="0">
                <a:solidFill>
                  <a:srgbClr val="2A7FB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https://20-207-206-244.sslip.io</a:t>
            </a:r>
            <a:pPr indent="0" marL="0">
              <a:buNone/>
            </a:pPr>
            <a:r>
              <a:rPr lang="en-US" sz="1200" b="1" dirty="0">
                <a:solidFill>
                  <a:srgbClr val="1E6B48"/>
                </a:solidFill>
                <a:latin typeface="Calibri" pitchFamily="34" charset="0"/>
                <a:ea typeface="Calibri" pitchFamily="34" charset="-122"/>
                <a:cs typeface="Calibri" pitchFamily="34" charset="-120"/>
              </a:rPr>
              <a:t>    Code: </a:t>
            </a:r>
            <a:pPr indent="0" marL="0">
              <a:buNone/>
            </a:pPr>
            <a:r>
              <a:rPr lang="en-US" sz="1200" u="sng" dirty="0">
                <a:solidFill>
                  <a:srgbClr val="2A7FB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github.com/KrisKeshav/khetdrishti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KhetDrishti — Forge '26 pitch</dc:title>
  <dc:subject>PptxGenJS Presentation</dc:subject>
  <dc:creator>Team KhetDrishti</dc:creator>
  <cp:lastModifiedBy>Team KhetDrishti</cp:lastModifiedBy>
  <cp:revision>1</cp:revision>
  <dcterms:created xsi:type="dcterms:W3CDTF">2026-11-01T12:18:55Z</dcterms:created>
  <dcterms:modified xsi:type="dcterms:W3CDTF">2026-11-01T12:18:55Z</dcterms:modified>
</cp:coreProperties>
</file>